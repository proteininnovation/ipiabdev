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0" r:id="rId4"/>
    <p:sldId id="261" r:id="rId5"/>
    <p:sldId id="259" r:id="rId6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0" d="100"/>
          <a:sy n="90" d="100"/>
        </p:scale>
        <p:origin x="455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384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0134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7013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Fig. 1  |  TransformerLM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38328"/>
            <a:ext cx="701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Fixed-length PLM embedding → 2-token Pre-LN Transformer → P(Pass)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EEEDFB"/>
          </a:solidFill>
          <a:ln w="6350">
            <a:solidFill>
              <a:srgbClr val="EE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766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 embedding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320" y="877824"/>
            <a:ext cx="283464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 AntiBERTa2-CSSP  (1,024-dim)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691640" y="1115568"/>
            <a:ext cx="0" cy="18288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274320" y="1298448"/>
            <a:ext cx="2834640" cy="512064"/>
          </a:xfrm>
          <a:prstGeom prst="roundRect">
            <a:avLst>
              <a:gd name="adj" fmla="val 10714"/>
            </a:avLst>
          </a:prstGeom>
          <a:solidFill>
            <a:srgbClr val="5C4BAD"/>
          </a:solidFill>
          <a:ln w="635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33502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projection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74320" y="1554480"/>
            <a:ext cx="2834640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D6D0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Linear(emb_dim → 128)  ·  LayerNorm  ·  Dropout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1691640" y="1810512"/>
            <a:ext cx="0" cy="18288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274320" y="1993392"/>
            <a:ext cx="2834640" cy="475488"/>
          </a:xfrm>
          <a:prstGeom prst="roundRect">
            <a:avLst>
              <a:gd name="adj" fmla="val 11538"/>
            </a:avLst>
          </a:prstGeom>
          <a:solidFill>
            <a:srgbClr val="EEEDFB"/>
          </a:solidFill>
          <a:ln w="6350">
            <a:solidFill>
              <a:srgbClr val="EE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029968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2-token sequence  [CLS, embed]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2231136"/>
            <a:ext cx="2834640" cy="2187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CLS: learnable  (init trunc-normal  σ = 0.02)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1691640" y="2468880"/>
            <a:ext cx="0" cy="18288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274320" y="2651760"/>
            <a:ext cx="2834640" cy="585216"/>
          </a:xfrm>
          <a:prstGeom prst="roundRect">
            <a:avLst>
              <a:gd name="adj" fmla="val 9375"/>
            </a:avLst>
          </a:prstGeom>
          <a:solidFill>
            <a:srgbClr val="5C4BAD"/>
          </a:solidFill>
          <a:ln w="635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2688336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  (Pre-LN)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2944368"/>
            <a:ext cx="2834640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C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layers (n &lt; 50k) or 3 layers (n ≥ 50k)  ·  8 heads  ·  FFN = 512  ·  dropout*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691640" y="3236976"/>
            <a:ext cx="0" cy="18288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274320" y="3419856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EEEDFB"/>
          </a:solidFill>
          <a:ln w="6350">
            <a:solidFill>
              <a:srgbClr val="EE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4198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CLS token  →  h  (128-dim)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880360" y="3511296"/>
            <a:ext cx="0" cy="1188720"/>
          </a:xfrm>
          <a:prstGeom prst="line">
            <a:avLst/>
          </a:prstGeom>
          <a:noFill/>
          <a:ln w="8890">
            <a:solidFill>
              <a:srgbClr val="999999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880360" y="4700016"/>
            <a:ext cx="457200" cy="0"/>
          </a:xfrm>
          <a:prstGeom prst="line">
            <a:avLst/>
          </a:prstGeom>
          <a:noFill/>
          <a:ln w="8890">
            <a:solidFill>
              <a:srgbClr val="999999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3355848" y="4590288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states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(.csv)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691640" y="3840480"/>
            <a:ext cx="0" cy="18288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274320" y="4023360"/>
            <a:ext cx="2834640" cy="512064"/>
          </a:xfrm>
          <a:prstGeom prst="roundRect">
            <a:avLst>
              <a:gd name="adj" fmla="val 10714"/>
            </a:avLst>
          </a:prstGeom>
          <a:solidFill>
            <a:srgbClr val="1C2B5A"/>
          </a:solidFill>
          <a:ln w="635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74320" y="4059936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head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74320" y="4279392"/>
            <a:ext cx="2834640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  ·  Dropout  ·  Linear(128 → 2)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1691640" y="4535424"/>
            <a:ext cx="0" cy="182880"/>
          </a:xfrm>
          <a:prstGeom prst="line">
            <a:avLst/>
          </a:prstGeom>
          <a:noFill/>
          <a:ln w="12700">
            <a:solidFill>
              <a:srgbClr val="1C2B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274320" y="4718304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FDEAE5"/>
          </a:solidFill>
          <a:ln w="6350">
            <a:solidFill>
              <a:srgbClr val="FD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274320" y="4718304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P(Pass)  ·  P(Fail)  —  softmax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74320" y="5303520"/>
            <a:ext cx="2834640" cy="1019556"/>
          </a:xfrm>
          <a:prstGeom prst="roundRect">
            <a:avLst>
              <a:gd name="adj" fmla="val 5381"/>
            </a:avLst>
          </a:prstGeom>
          <a:solidFill>
            <a:srgbClr val="EAF4FF"/>
          </a:solidFill>
          <a:ln w="7620">
            <a:solidFill>
              <a:srgbClr val="2979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5358384"/>
            <a:ext cx="265176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YAML-configurable / auto_scale_config()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dropout*: 0.45 → 0.10  scaled by d_norm = n / emb_dim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epochs: 55 → 15  scaled by n_norm = dataset size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loss: auto-selected  (ce / weighted_ce / focal / label_smooth)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YAML override &gt; auto_scale &gt; built-in defaults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3474720" y="640080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hyperparameters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474720" y="923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hidden_dim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526280" y="9235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  (always — PLM head, not a re-learner)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3474720" y="11521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num_heads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26280" y="11521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 →  head_dim = 16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74720" y="13807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batch_size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526280" y="13807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 (flat minima, better generalisation)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74720" y="16093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lr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526280" y="16093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× 10⁻⁵  (matched to batch = 32)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0" y="18379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526280" y="18379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512  (4 × hidden_dim)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0" y="206654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Pre-LN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526280" y="2066544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norm_first=True  (stable at small batch)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474720" y="2340864"/>
            <a:ext cx="38130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3474720" y="2496312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Auto-scaled parameters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3474720" y="27706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dropout*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526280" y="27706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0.45 − 0.30 × d_norm   (d_norm = samples/emb_dim)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74720" y="29992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num_layers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526280" y="29992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(n &lt; 50k)   or   3  (n ≥ 50k)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74720" y="3227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epochs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526280" y="32278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→ 15   scaled by n_norm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3474720" y="34564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weight_decay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4526280" y="34564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0.001  (n &lt; 50k)   →   0.0005  (n ≥ 50k)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3474720" y="36850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patience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4526280" y="3685032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 (n &lt; 50k)   →   5  (n ≥ 50k)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3474720" y="4023360"/>
            <a:ext cx="3813048" cy="822960"/>
          </a:xfrm>
          <a:prstGeom prst="roundRect">
            <a:avLst>
              <a:gd name="adj" fmla="val 6667"/>
            </a:avLst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Text 59"/>
          <p:cNvSpPr/>
          <p:nvPr/>
        </p:nvSpPr>
        <p:spPr>
          <a:xfrm>
            <a:off x="3584448" y="4078224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10-fold SGKF · IPI PSR (n = 11,265 · AntiBERTa2-CSSP)
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AUC = 0.957 ± 0.008
Best fold AUC = 0.968   ·   Youden threshold t = 0.441
Mean best epoch = 26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274320" y="6579108"/>
            <a:ext cx="7013448" cy="0"/>
          </a:xfrm>
          <a:prstGeom prst="line">
            <a:avLst/>
          </a:prstGeom>
          <a:noFill/>
          <a:ln w="762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74320" y="6688836"/>
            <a:ext cx="7013448" cy="3909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of the TransformerLM classifier. A fixed-length protein language model (PLM) embedding is projected by a Linear(emb_dim → 128) block (LayerNorm + Dropout), then combined with a learnable CLS token (truncated normal initialisation, σ = 0.02) to form a 2-token input sequence [CLS, embed]. The sequence passes through a Pre-Layer Normalisation (Pre-LN) Transformer encoder producing a CLS token representation that feeds a classification head (LayerNorm → Dropout → Linear(128 → 2)) producing P(Pass) and P(Fail) via softmax. Dashed line: automatic export of the 128-dimensional CLS hidden state as a task-specific embedding CSV for downstream clustering or t-SNE. *Dropout (0.10–0.45) and epoch ceiling (15–55) are scaled automatically by auto_scale_config() using two axes: n_norm (log-scaled dataset size) and d_norm (samples per embedding dimension). All other hyperparameters are fixed across all PLMs and dataset sizes. All parameters are configurable via YAML without code modification (priority: YAML override &gt; auto_scale &gt; built-in defaults).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0134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7013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Fig. 2  |  CNN architecture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38328"/>
            <a:ext cx="701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PLM embedding treated as 1D signal  ·  dilated residual blocks  ·  AdaptiveMaxPool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640080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E0F3EE"/>
          </a:solidFill>
          <a:ln w="6350">
            <a:solidFill>
              <a:srgbClr val="E0F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640080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 embedding  (B, emb_dim)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691640" y="1060704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" y="1225296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225296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Unsqueeze  →  (B, 1, emb_dim)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00400" y="1271016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†drop_last=True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(BatchNorm safety)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691640" y="1609344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773936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0B6E56"/>
          </a:solidFill>
          <a:ln w="635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81051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ResidualBlock 1  (dilation = 1)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74320" y="2048256"/>
            <a:ext cx="28346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 1 → 128  ·  k=5  ·  BatchNorm  ·  GELU  ·  shortcut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691640" y="2322576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274320" y="2487168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0B6E56"/>
          </a:solidFill>
          <a:ln w="635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52374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ResidualBlock 2  (dilation = 2)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74320" y="2761488"/>
            <a:ext cx="28346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 128 → 256  ·  k=5  ·  BatchNorm  ·  GELU  ·  shortcut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1691640" y="3035808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274320" y="3200400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0B6E56"/>
          </a:solidFill>
          <a:ln w="635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274320" y="323697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ResidualBlock 3  (dilation = 4)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74320" y="3474720"/>
            <a:ext cx="28346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Conv1d 256 → 256  ·  k=5  ·  BatchNorm  ·  GELU  ·  shortcut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691640" y="3749040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74320" y="3913632"/>
            <a:ext cx="2834640" cy="457200"/>
          </a:xfrm>
          <a:prstGeom prst="roundRect">
            <a:avLst>
              <a:gd name="adj" fmla="val 12000"/>
            </a:avLst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274320" y="3950208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AdaptiveMaxPool1d(1)  →  (B, 256)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274320" y="4142232"/>
            <a:ext cx="28346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max activation per channel  ·  automatic feature selection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691640" y="4370832"/>
            <a:ext cx="0" cy="16459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274320" y="4535424"/>
            <a:ext cx="2834640" cy="548640"/>
          </a:xfrm>
          <a:prstGeom prst="roundRect">
            <a:avLst>
              <a:gd name="adj" fmla="val 10000"/>
            </a:avLst>
          </a:prstGeom>
          <a:solidFill>
            <a:srgbClr val="1C2B5A"/>
          </a:solidFill>
          <a:ln w="635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" y="4572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FC head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74320" y="4809744"/>
            <a:ext cx="283464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  ·  Linear(256 → hidden*)  ·  BN  ·  GELU  ·  Dropout  ·  Linear(hidden* → 2)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880360" y="4626864"/>
            <a:ext cx="0" cy="1188720"/>
          </a:xfrm>
          <a:prstGeom prst="line">
            <a:avLst/>
          </a:prstGeom>
          <a:noFill/>
          <a:ln w="8890">
            <a:solidFill>
              <a:srgbClr val="999999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2880360" y="5815584"/>
            <a:ext cx="457200" cy="0"/>
          </a:xfrm>
          <a:prstGeom prst="line">
            <a:avLst/>
          </a:prstGeom>
          <a:noFill/>
          <a:ln w="8890">
            <a:solidFill>
              <a:srgbClr val="999999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3355848" y="570585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states</a:t>
            </a:r>
            <a:endParaRPr lang="en-US" sz="750" dirty="0"/>
          </a:p>
          <a:p>
            <a:pPr marL="0" indent="0">
              <a:buNone/>
            </a:pPr>
            <a:r>
              <a:rPr lang="en-US" sz="75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exported (.csv)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1691640" y="5084064"/>
            <a:ext cx="0" cy="164592"/>
          </a:xfrm>
          <a:prstGeom prst="line">
            <a:avLst/>
          </a:prstGeom>
          <a:noFill/>
          <a:ln w="12700">
            <a:solidFill>
              <a:srgbClr val="1C2B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274320" y="5248656"/>
            <a:ext cx="2834640" cy="420624"/>
          </a:xfrm>
          <a:prstGeom prst="roundRect">
            <a:avLst>
              <a:gd name="adj" fmla="val 13043"/>
            </a:avLst>
          </a:prstGeom>
          <a:solidFill>
            <a:srgbClr val="FDEAE5"/>
          </a:solidFill>
          <a:ln w="6350">
            <a:solidFill>
              <a:srgbClr val="FD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4320" y="5248656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P(Pass)  ·  P(Fail)  —  softmax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74320" y="5833872"/>
            <a:ext cx="2834640" cy="1019556"/>
          </a:xfrm>
          <a:prstGeom prst="roundRect">
            <a:avLst>
              <a:gd name="adj" fmla="val 5381"/>
            </a:avLst>
          </a:prstGeom>
          <a:solidFill>
            <a:srgbClr val="EAF4FF"/>
          </a:solidFill>
          <a:ln w="7620">
            <a:solidFill>
              <a:srgbClr val="2979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65760" y="5888736"/>
            <a:ext cx="2651760" cy="9281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YAML-configurable / auto_scale_config()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hidden_dim*: 64 – 256  scaled by d_norm (n / emb_dim)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dropout: 0.10 – 0.45  scaled by d_norm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batch_size, epochs, lr: scaled by n_norm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type: auto  (balanced / imbalanced dataset)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3474720" y="640080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 details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474720" y="9235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kernel_size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663440" y="9235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 (all Conv1d layers)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74720" y="11521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663440" y="11521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 2, 4  →  receptive fields 5, 9, 17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474720" y="13807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channels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3440" y="13807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→ 128 → 256 → 256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3474720" y="16093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shortcut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4663440" y="16093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projection (≠ dims)  or  identity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3474720" y="18379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pooling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663440" y="18379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AdaptiveMaxPool1d(1)  →  256-dim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3474720" y="20665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BatchNorm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4663440" y="20665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every residual block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3474720" y="22951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4663440" y="22951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GELU throughout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3474720" y="2523744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†drop_last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4663440" y="252374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 (prevents BN crash at batch_size=1)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474720" y="2862072"/>
            <a:ext cx="3813048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474720" y="3026664"/>
            <a:ext cx="38130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CNN + TransformerLM ensemble?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3474720" y="3300984"/>
            <a:ext cx="3813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extracts multi-scale convolutional features with global max-pooling. TransformerLM uses CLS-guided attention. Both operate on the same PLM embedding but through structurally different computational paths — prediction errors are partially uncorrelated, making them ideal ensemble partners. A simple 0.5 / 0.5 score average is expected to yield AUC ≈ 0.970–0.975.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3474720" y="4197096"/>
            <a:ext cx="3813048" cy="822960"/>
          </a:xfrm>
          <a:prstGeom prst="roundRect">
            <a:avLst>
              <a:gd name="adj" fmla="val 6667"/>
            </a:avLst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584448" y="4251960"/>
            <a:ext cx="359359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10-fold SGKF · IPI PSR (n = 11,265 · AntiBERTa2-CSSP)
</a:t>
            </a:r>
            <a:r>
              <a:rPr lang="en-US" sz="8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AUC = 0.966 (folds 1–4)
Converges in 9–12 epochs  (vs 12–29, TransformerLM)
Ensemble → AUC ≈ 0.97+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274320" y="7036308"/>
            <a:ext cx="7013448" cy="0"/>
          </a:xfrm>
          <a:prstGeom prst="line">
            <a:avLst/>
          </a:prstGeom>
          <a:noFill/>
          <a:ln w="762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274320" y="7146036"/>
            <a:ext cx="7013448" cy="34518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Schematic of the 1D residual CNN classifier. A PLM embedding vector (B × emb_dim) is unsqueezed to (B, 1, emb_dim) and processed by three dilated residual blocks (dilations 1, 2, 4; kernel_size = 5) capturing multi-scale patterns at receptive fields of 5, 9, and 17 positions. Each block applies two Conv1d layers with BatchNorm1d and GELU activation, with a projection shortcut where channel dimensions change. AdaptiveMaxPool1d(1) collapses the feature map to a 256-dimensional vector by selecting the maximum activation per channel — input-conditioned feature selection robust to PLM embedding dimension ordering. The FC head applies Dropout → Linear(256 → hidden*) → BatchNorm1d → GELU → Dropout → Linear(hidden* → 2). †drop_last=True prevents BatchNorm receiving a single-sample batch (undefined variance). Dashed line: penultimate-layer hidden state exported as CSV. *hidden_dim (64–256) and dropout (0.10–0.45) are scaled automatically by auto_scale_config() from d_norm (samples per embedding dimension). All parameters are configurable via YAML without code modification.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65760"/>
            <a:ext cx="70134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7013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Fig. 3  |  </a:t>
            </a:r>
            <a:r>
              <a:rPr lang="en-US" sz="1200" b="1" dirty="0" err="1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TransformerOneHot</a:t>
            </a: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Architecture and Integrated Gradients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365760"/>
            <a:ext cx="701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Dual-branch one-hot Transformer  ·  CDR3-guided cross-attention  ·  position-resolved IG attribution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0350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 Forward pass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74320" y="804672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1  —  VH + VL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303520" y="804672"/>
            <a:ext cx="19842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2  —  HCDR3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74320" y="1033272"/>
            <a:ext cx="1920240" cy="512064"/>
          </a:xfrm>
          <a:prstGeom prst="roundRect">
            <a:avLst>
              <a:gd name="adj" fmla="val 10714"/>
            </a:avLst>
          </a:prstGeom>
          <a:solidFill>
            <a:srgbClr val="EEEDFB"/>
          </a:solidFill>
          <a:ln w="6350">
            <a:solidFill>
              <a:srgbClr val="EE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274320" y="106984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 + VL  one-hot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74320" y="1289304"/>
            <a:ext cx="1920240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 × 20 = 5,400 dim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1234440" y="1545336"/>
            <a:ext cx="0" cy="128016"/>
          </a:xfrm>
          <a:prstGeom prst="line">
            <a:avLst/>
          </a:prstGeom>
          <a:noFill/>
          <a:ln w="1397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274320" y="1673352"/>
            <a:ext cx="1920240" cy="365760"/>
          </a:xfrm>
          <a:prstGeom prst="roundRect">
            <a:avLst>
              <a:gd name="adj" fmla="val 15000"/>
            </a:avLst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274320" y="1673352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Sinusoidal PE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234440" y="2039112"/>
            <a:ext cx="0" cy="128016"/>
          </a:xfrm>
          <a:prstGeom prst="line">
            <a:avLst/>
          </a:prstGeom>
          <a:noFill/>
          <a:ln w="1397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74320" y="2167128"/>
            <a:ext cx="1920240" cy="585216"/>
          </a:xfrm>
          <a:prstGeom prst="roundRect">
            <a:avLst>
              <a:gd name="adj" fmla="val 9375"/>
            </a:avLst>
          </a:prstGeom>
          <a:solidFill>
            <a:srgbClr val="5C4BAD"/>
          </a:solidFill>
          <a:ln w="635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74320" y="220370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(Pre-LN)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4320" y="2459736"/>
            <a:ext cx="1920240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0B8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layers  ·  8 heads  ·  FFN*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234440" y="2752344"/>
            <a:ext cx="0" cy="128016"/>
          </a:xfrm>
          <a:prstGeom prst="line">
            <a:avLst/>
          </a:prstGeom>
          <a:noFill/>
          <a:ln w="1397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274320" y="2880360"/>
            <a:ext cx="1920240" cy="402336"/>
          </a:xfrm>
          <a:prstGeom prst="roundRect">
            <a:avLst>
              <a:gd name="adj" fmla="val 13636"/>
            </a:avLst>
          </a:prstGeom>
          <a:solidFill>
            <a:srgbClr val="EEEDFB"/>
          </a:solidFill>
          <a:ln w="6350">
            <a:solidFill>
              <a:srgbClr val="EEEDF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880360"/>
            <a:ext cx="19202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pool  →  x_pooled (H)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303520" y="1033272"/>
            <a:ext cx="1984248" cy="512064"/>
          </a:xfrm>
          <a:prstGeom prst="roundRect">
            <a:avLst>
              <a:gd name="adj" fmla="val 10714"/>
            </a:avLst>
          </a:prstGeom>
          <a:solidFill>
            <a:srgbClr val="E0F3EE"/>
          </a:solidFill>
          <a:ln w="6350">
            <a:solidFill>
              <a:srgbClr val="E0F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5303520" y="106984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HCDR3  one-hot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303520" y="1289304"/>
            <a:ext cx="1984248" cy="235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× 20 = 600 dim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95644" y="1545336"/>
            <a:ext cx="0" cy="128016"/>
          </a:xfrm>
          <a:prstGeom prst="line">
            <a:avLst/>
          </a:prstGeom>
          <a:noFill/>
          <a:ln w="1397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5303520" y="1673352"/>
            <a:ext cx="1984248" cy="365760"/>
          </a:xfrm>
          <a:prstGeom prst="roundRect">
            <a:avLst>
              <a:gd name="adj" fmla="val 15000"/>
            </a:avLst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303520" y="1673352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Sinusoidal PE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295644" y="2039112"/>
            <a:ext cx="0" cy="128016"/>
          </a:xfrm>
          <a:prstGeom prst="line">
            <a:avLst/>
          </a:prstGeom>
          <a:noFill/>
          <a:ln w="1397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8" name="Shape 26"/>
          <p:cNvSpPr/>
          <p:nvPr/>
        </p:nvSpPr>
        <p:spPr>
          <a:xfrm>
            <a:off x="5303520" y="2167128"/>
            <a:ext cx="1984248" cy="585216"/>
          </a:xfrm>
          <a:prstGeom prst="roundRect">
            <a:avLst>
              <a:gd name="adj" fmla="val 9375"/>
            </a:avLst>
          </a:prstGeom>
          <a:solidFill>
            <a:srgbClr val="0B6E56"/>
          </a:solidFill>
          <a:ln w="635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5303520" y="2203704"/>
            <a:ext cx="19842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 encoder </a:t>
            </a:r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(Pre-LN)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303520" y="2459736"/>
            <a:ext cx="1984248" cy="2691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layers  ·  8 heads  ·  FFN*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295644" y="2752344"/>
            <a:ext cx="0" cy="128016"/>
          </a:xfrm>
          <a:prstGeom prst="line">
            <a:avLst/>
          </a:prstGeom>
          <a:noFill/>
          <a:ln w="1397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5303520" y="2880360"/>
            <a:ext cx="1984248" cy="402336"/>
          </a:xfrm>
          <a:prstGeom prst="roundRect">
            <a:avLst>
              <a:gd name="adj" fmla="val 13636"/>
            </a:avLst>
          </a:prstGeom>
          <a:solidFill>
            <a:srgbClr val="E0F3EE"/>
          </a:solidFill>
          <a:ln w="6350">
            <a:solidFill>
              <a:srgbClr val="E0F3E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5303520" y="2880360"/>
            <a:ext cx="198424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pool  →  cdr3_pooled (H)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234440" y="3282696"/>
            <a:ext cx="0" cy="530352"/>
          </a:xfrm>
          <a:prstGeom prst="line">
            <a:avLst/>
          </a:prstGeom>
          <a:noFill/>
          <a:ln w="1143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234440" y="3813048"/>
            <a:ext cx="1143000" cy="0"/>
          </a:xfrm>
          <a:prstGeom prst="line">
            <a:avLst/>
          </a:prstGeom>
          <a:noFill/>
          <a:ln w="11430">
            <a:solidFill>
              <a:srgbClr val="5C4BAD"/>
            </a:solidFill>
            <a:prstDash val="dash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56032" y="3657600"/>
            <a:ext cx="9418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K, V  →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95644" y="3282696"/>
            <a:ext cx="0" cy="53035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5074920" y="3813048"/>
            <a:ext cx="1220724" cy="0"/>
          </a:xfrm>
          <a:prstGeom prst="line">
            <a:avLst/>
          </a:prstGeom>
          <a:noFill/>
          <a:ln w="1143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5148072" y="3657600"/>
            <a:ext cx="731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i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Q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2377440" y="3520440"/>
            <a:ext cx="2697480" cy="621792"/>
          </a:xfrm>
          <a:prstGeom prst="roundRect">
            <a:avLst>
              <a:gd name="adj" fmla="val 8824"/>
            </a:avLst>
          </a:prstGeom>
          <a:solidFill>
            <a:srgbClr val="FEF0D7"/>
          </a:solidFill>
          <a:ln w="6350">
            <a:solidFill>
              <a:srgbClr val="FEF0D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2377440" y="3557016"/>
            <a:ext cx="2697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CDR3-guided cross-attention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2377440" y="3831336"/>
            <a:ext cx="2697480" cy="286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8C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 = cdr3_pooled  ·  K, V = x_full (all VH+VL positions)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1344168" y="3282696"/>
            <a:ext cx="0" cy="1243584"/>
          </a:xfrm>
          <a:prstGeom prst="line">
            <a:avLst/>
          </a:prstGeom>
          <a:noFill/>
          <a:ln w="10160">
            <a:solidFill>
              <a:srgbClr val="5C4BA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344168" y="4526280"/>
            <a:ext cx="1033272" cy="0"/>
          </a:xfrm>
          <a:prstGeom prst="line">
            <a:avLst/>
          </a:prstGeom>
          <a:noFill/>
          <a:ln w="8890">
            <a:solidFill>
              <a:srgbClr val="5C4BAD"/>
            </a:solidFill>
            <a:prstDash val="sysDot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256032" y="3941064"/>
            <a:ext cx="11064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i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x_pooled</a:t>
            </a:r>
            <a:endParaRPr lang="en-US" sz="800" dirty="0"/>
          </a:p>
          <a:p>
            <a:pPr marL="0" indent="0" algn="r">
              <a:buNone/>
            </a:pPr>
            <a:r>
              <a:rPr lang="en-US" sz="800" i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(bypass)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26180" y="4142232"/>
            <a:ext cx="0" cy="182880"/>
          </a:xfrm>
          <a:prstGeom prst="line">
            <a:avLst/>
          </a:prstGeom>
          <a:noFill/>
          <a:ln w="13970">
            <a:solidFill>
              <a:srgbClr val="8C5200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377440" y="4325112"/>
            <a:ext cx="2697480" cy="420624"/>
          </a:xfrm>
          <a:prstGeom prst="roundRect">
            <a:avLst>
              <a:gd name="adj" fmla="val 13043"/>
            </a:avLst>
          </a:prstGeom>
          <a:solidFill>
            <a:srgbClr val="F3F3F3"/>
          </a:solidFill>
          <a:ln w="6350">
            <a:solidFill>
              <a:srgbClr val="F3F3F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2377440" y="4325112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Concatenate  [ x_pooled  ‖  attn_out ]  →  (2H)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3726180" y="4745736"/>
            <a:ext cx="0" cy="146304"/>
          </a:xfrm>
          <a:prstGeom prst="line">
            <a:avLst/>
          </a:prstGeom>
          <a:noFill/>
          <a:ln w="13970">
            <a:solidFill>
              <a:srgbClr val="1C2B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2377440" y="4892040"/>
            <a:ext cx="2697480" cy="548640"/>
          </a:xfrm>
          <a:prstGeom prst="roundRect">
            <a:avLst>
              <a:gd name="adj" fmla="val 10000"/>
            </a:avLst>
          </a:prstGeom>
          <a:solidFill>
            <a:srgbClr val="1C2B5A"/>
          </a:solidFill>
          <a:ln w="635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2377440" y="4928616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head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2377440" y="5166360"/>
            <a:ext cx="2697480" cy="252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LayerNorm  ·  Dropout  ·  Linear(2H → 2)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3726180" y="5440680"/>
            <a:ext cx="0" cy="146304"/>
          </a:xfrm>
          <a:prstGeom prst="line">
            <a:avLst/>
          </a:prstGeom>
          <a:noFill/>
          <a:ln w="13970">
            <a:solidFill>
              <a:srgbClr val="1C2B5A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2377440" y="5586984"/>
            <a:ext cx="2697480" cy="475488"/>
          </a:xfrm>
          <a:prstGeom prst="roundRect">
            <a:avLst>
              <a:gd name="adj" fmla="val 11538"/>
            </a:avLst>
          </a:prstGeom>
          <a:solidFill>
            <a:srgbClr val="FDEAE5"/>
          </a:solidFill>
          <a:ln w="6350">
            <a:solidFill>
              <a:srgbClr val="FDEAE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/>
          <p:nvPr/>
        </p:nvSpPr>
        <p:spPr>
          <a:xfrm>
            <a:off x="2377440" y="5586984"/>
            <a:ext cx="2697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P(Pass)  ·  P(Fail)  —  softmax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256032" y="6318504"/>
            <a:ext cx="7050024" cy="1641199"/>
          </a:xfrm>
          <a:prstGeom prst="roundRect">
            <a:avLst>
              <a:gd name="adj" fmla="val 4082"/>
            </a:avLst>
          </a:prstGeom>
          <a:solidFill>
            <a:srgbClr val="F4F7FF"/>
          </a:solidFill>
          <a:ln w="6350">
            <a:solidFill>
              <a:srgbClr val="C8D4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384048" y="6409944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  Integrated Gradients attribution  (backward through network)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3726180" y="6062472"/>
            <a:ext cx="0" cy="640080"/>
          </a:xfrm>
          <a:prstGeom prst="line">
            <a:avLst/>
          </a:prstGeom>
          <a:noFill/>
          <a:ln w="13970">
            <a:solidFill>
              <a:srgbClr val="8B2500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 57"/>
          <p:cNvSpPr/>
          <p:nvPr/>
        </p:nvSpPr>
        <p:spPr>
          <a:xfrm>
            <a:off x="3817620" y="611733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target = P(Pass)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1234440" y="6702552"/>
            <a:ext cx="2491740" cy="0"/>
          </a:xfrm>
          <a:prstGeom prst="line">
            <a:avLst/>
          </a:prstGeom>
          <a:noFill/>
          <a:ln w="11430">
            <a:solidFill>
              <a:srgbClr val="5C4BAD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9"/>
          <p:cNvSpPr/>
          <p:nvPr/>
        </p:nvSpPr>
        <p:spPr>
          <a:xfrm>
            <a:off x="3726180" y="6702552"/>
            <a:ext cx="2569464" cy="0"/>
          </a:xfrm>
          <a:prstGeom prst="line">
            <a:avLst/>
          </a:prstGeom>
          <a:noFill/>
          <a:ln w="11430">
            <a:solidFill>
              <a:srgbClr val="0B6E56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2377440" y="6702552"/>
            <a:ext cx="2697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7620">
            <a:solidFill>
              <a:srgbClr val="AABB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2487168" y="6757416"/>
            <a:ext cx="2491740" cy="2743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22222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IGᵢ(x) = (xᵢ − x̄ᵢ) ×  ∫₀¹ ∂F(x̄+α(x−x̄))/∂xᵢ  dα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468880" y="7086600"/>
            <a:ext cx="2514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x̄ = all-zero  ·  F = P(Pass)  ·  50 Riemann steps  ·  target = class 1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234440" y="6446520"/>
            <a:ext cx="0" cy="256032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196596" y="6739128"/>
            <a:ext cx="941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∂F/∂x₁</a:t>
            </a:r>
            <a:endParaRPr lang="en-US" sz="850" dirty="0"/>
          </a:p>
          <a:p>
            <a:pPr marL="0" indent="0" algn="r">
              <a:buNone/>
            </a:pPr>
            <a:r>
              <a:rPr lang="en-US" sz="850" i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(branch 1)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1234440" y="6446520"/>
            <a:ext cx="0" cy="0"/>
          </a:xfrm>
          <a:prstGeom prst="line">
            <a:avLst/>
          </a:prstGeom>
          <a:noFill/>
          <a:ln w="12700">
            <a:solidFill>
              <a:srgbClr val="5C4BA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6295644" y="6446520"/>
            <a:ext cx="0" cy="256032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451092" y="6700357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∂F/∂x₂</a:t>
            </a:r>
            <a:endParaRPr lang="en-US" sz="850" dirty="0"/>
          </a:p>
          <a:p>
            <a:pPr marL="0" indent="0" algn="l">
              <a:buNone/>
            </a:pPr>
            <a:r>
              <a:rPr lang="en-US" sz="850" i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(branch 2)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6295644" y="6446520"/>
            <a:ext cx="0" cy="0"/>
          </a:xfrm>
          <a:prstGeom prst="line">
            <a:avLst/>
          </a:prstGeom>
          <a:noFill/>
          <a:ln w="12700">
            <a:solidFill>
              <a:srgbClr val="0B6E56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1234440" y="6702552"/>
            <a:ext cx="0" cy="713232"/>
          </a:xfrm>
          <a:prstGeom prst="line">
            <a:avLst/>
          </a:prstGeom>
          <a:noFill/>
          <a:ln w="1143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2" name="Shape 70"/>
          <p:cNvSpPr/>
          <p:nvPr/>
        </p:nvSpPr>
        <p:spPr>
          <a:xfrm>
            <a:off x="6295644" y="6702552"/>
            <a:ext cx="0" cy="713232"/>
          </a:xfrm>
          <a:prstGeom prst="line">
            <a:avLst/>
          </a:prstGeom>
          <a:noFill/>
          <a:ln w="1143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73" name="Shape 71"/>
          <p:cNvSpPr/>
          <p:nvPr/>
        </p:nvSpPr>
        <p:spPr>
          <a:xfrm>
            <a:off x="274320" y="7415784"/>
            <a:ext cx="2212848" cy="457200"/>
          </a:xfrm>
          <a:prstGeom prst="roundRect">
            <a:avLst>
              <a:gd name="adj" fmla="val 12000"/>
            </a:avLst>
          </a:prstGeom>
          <a:solidFill>
            <a:srgbClr val="5C4BAD"/>
          </a:solidFill>
          <a:ln w="1270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Text 72"/>
          <p:cNvSpPr/>
          <p:nvPr/>
        </p:nvSpPr>
        <p:spPr>
          <a:xfrm>
            <a:off x="274320" y="7415784"/>
            <a:ext cx="22128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VH+VL attribution vector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270 positions  ·  sum over AA dim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5102352" y="7415784"/>
            <a:ext cx="2185416" cy="457200"/>
          </a:xfrm>
          <a:prstGeom prst="roundRect">
            <a:avLst>
              <a:gd name="adj" fmla="val 12000"/>
            </a:avLst>
          </a:prstGeom>
          <a:solidFill>
            <a:srgbClr val="0B6E56"/>
          </a:solidFill>
          <a:ln w="1270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6" name="Text 74"/>
          <p:cNvSpPr/>
          <p:nvPr/>
        </p:nvSpPr>
        <p:spPr>
          <a:xfrm>
            <a:off x="5102352" y="7415784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HCDR3 attribution vector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positions  ·  sum over AA dim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256032" y="8219296"/>
            <a:ext cx="7050024" cy="1408176"/>
          </a:xfrm>
          <a:prstGeom prst="roundRect">
            <a:avLst>
              <a:gd name="adj" fmla="val 4000"/>
            </a:avLst>
          </a:prstGeom>
          <a:solidFill>
            <a:srgbClr val="F5FFF8"/>
          </a:solidFill>
          <a:ln w="6350">
            <a:solidFill>
              <a:srgbClr val="B0DDC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8" name="Text 76"/>
          <p:cNvSpPr/>
          <p:nvPr/>
        </p:nvSpPr>
        <p:spPr>
          <a:xfrm>
            <a:off x="384048" y="8255872"/>
            <a:ext cx="6766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C2B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  Outputs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3726180" y="8110728"/>
            <a:ext cx="0" cy="530352"/>
          </a:xfrm>
          <a:prstGeom prst="line">
            <a:avLst/>
          </a:prstGeom>
          <a:noFill/>
          <a:ln w="11430">
            <a:solidFill>
              <a:srgbClr val="8B2500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1380744" y="7872984"/>
            <a:ext cx="0" cy="768096"/>
          </a:xfrm>
          <a:prstGeom prst="line">
            <a:avLst/>
          </a:prstGeom>
          <a:noFill/>
          <a:ln w="1143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1" name="Shape 79"/>
          <p:cNvSpPr/>
          <p:nvPr/>
        </p:nvSpPr>
        <p:spPr>
          <a:xfrm>
            <a:off x="6195060" y="7872984"/>
            <a:ext cx="0" cy="768096"/>
          </a:xfrm>
          <a:prstGeom prst="line">
            <a:avLst/>
          </a:prstGeom>
          <a:noFill/>
          <a:ln w="1143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80"/>
          <p:cNvSpPr/>
          <p:nvPr/>
        </p:nvSpPr>
        <p:spPr>
          <a:xfrm>
            <a:off x="274320" y="8548480"/>
            <a:ext cx="2304288" cy="365760"/>
          </a:xfrm>
          <a:prstGeom prst="roundRect">
            <a:avLst>
              <a:gd name="adj" fmla="val 15000"/>
            </a:avLst>
          </a:prstGeom>
          <a:solidFill>
            <a:srgbClr val="E8EDFF"/>
          </a:solidFill>
          <a:ln w="8890">
            <a:solidFill>
              <a:srgbClr val="5C4BA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Text 81"/>
          <p:cNvSpPr/>
          <p:nvPr/>
        </p:nvSpPr>
        <p:spPr>
          <a:xfrm>
            <a:off x="274320" y="8548480"/>
            <a:ext cx="23042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Population-level IG profiles</a:t>
            </a:r>
            <a:endParaRPr lang="en-US" sz="1100" dirty="0"/>
          </a:p>
        </p:txBody>
      </p:sp>
      <p:sp>
        <p:nvSpPr>
          <p:cNvPr id="84" name="Shape 82"/>
          <p:cNvSpPr/>
          <p:nvPr/>
        </p:nvSpPr>
        <p:spPr>
          <a:xfrm>
            <a:off x="2775857" y="8567926"/>
            <a:ext cx="1861458" cy="335769"/>
          </a:xfrm>
          <a:prstGeom prst="roundRect">
            <a:avLst>
              <a:gd name="adj" fmla="val 15000"/>
            </a:avLst>
          </a:prstGeom>
          <a:solidFill>
            <a:srgbClr val="FDEAE5"/>
          </a:solidFill>
          <a:ln w="8890">
            <a:solidFill>
              <a:srgbClr val="8B25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5" name="Text 83"/>
          <p:cNvSpPr/>
          <p:nvPr/>
        </p:nvSpPr>
        <p:spPr>
          <a:xfrm>
            <a:off x="2286000" y="8548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B25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P(Pass) / P(Fail)</a:t>
            </a:r>
            <a:endParaRPr lang="en-US" sz="1100" dirty="0"/>
          </a:p>
        </p:txBody>
      </p:sp>
      <p:sp>
        <p:nvSpPr>
          <p:cNvPr id="86" name="Shape 84"/>
          <p:cNvSpPr/>
          <p:nvPr/>
        </p:nvSpPr>
        <p:spPr>
          <a:xfrm>
            <a:off x="5102352" y="8548480"/>
            <a:ext cx="2185416" cy="365760"/>
          </a:xfrm>
          <a:prstGeom prst="roundRect">
            <a:avLst>
              <a:gd name="adj" fmla="val 15000"/>
            </a:avLst>
          </a:prstGeom>
          <a:solidFill>
            <a:srgbClr val="E0FFF5"/>
          </a:solidFill>
          <a:ln w="8890">
            <a:solidFill>
              <a:srgbClr val="0B6E5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5102352" y="8548480"/>
            <a:ext cx="21854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Per-antibody outputs</a:t>
            </a:r>
            <a:endParaRPr lang="en-US" sz="1100" dirty="0"/>
          </a:p>
        </p:txBody>
      </p:sp>
      <p:sp>
        <p:nvSpPr>
          <p:cNvPr id="88" name="Shape 86"/>
          <p:cNvSpPr/>
          <p:nvPr/>
        </p:nvSpPr>
        <p:spPr>
          <a:xfrm>
            <a:off x="1426464" y="8914240"/>
            <a:ext cx="0" cy="146304"/>
          </a:xfrm>
          <a:prstGeom prst="line">
            <a:avLst/>
          </a:prstGeom>
          <a:noFill/>
          <a:ln w="8890">
            <a:solidFill>
              <a:srgbClr val="5C4BAD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89" name="Text 87"/>
          <p:cNvSpPr/>
          <p:nvPr/>
        </p:nvSpPr>
        <p:spPr>
          <a:xfrm>
            <a:off x="274320" y="9060544"/>
            <a:ext cx="230428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Bar chart: top 60 positions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(VH+VL: purple  ·  HCDR3: teal)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HCDR3 residue heatmap (1×30)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TIFF  ·  auto-generated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3726180" y="8914240"/>
            <a:ext cx="0" cy="146304"/>
          </a:xfrm>
          <a:prstGeom prst="line">
            <a:avLst/>
          </a:prstGeom>
          <a:noFill/>
          <a:ln w="8890">
            <a:solidFill>
              <a:srgbClr val="8B2500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1" name="Text 89"/>
          <p:cNvSpPr/>
          <p:nvPr/>
        </p:nvSpPr>
        <p:spPr>
          <a:xfrm>
            <a:off x="2286000" y="9060544"/>
            <a:ext cx="2880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Youden threshold from BEST_*.pt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Binary label per antibody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Scores CSV exported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6195060" y="8914240"/>
            <a:ext cx="0" cy="146304"/>
          </a:xfrm>
          <a:prstGeom prst="line">
            <a:avLst/>
          </a:prstGeom>
          <a:noFill/>
          <a:ln w="8890">
            <a:solidFill>
              <a:srgbClr val="0B6E56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5102352" y="9060544"/>
            <a:ext cx="218541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PPT (300 DPI TIFF)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 attribution per residue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 heatmap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+ val sets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256413" y="9709768"/>
            <a:ext cx="7050024" cy="431963"/>
          </a:xfrm>
          <a:prstGeom prst="roundRect">
            <a:avLst>
              <a:gd name="adj" fmla="val 10000"/>
            </a:avLst>
          </a:prstGeom>
          <a:solidFill>
            <a:srgbClr val="EAF4FF"/>
          </a:solidFill>
          <a:ln w="6350">
            <a:solidFill>
              <a:srgbClr val="2979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5" name="Text 93"/>
          <p:cNvSpPr/>
          <p:nvPr/>
        </p:nvSpPr>
        <p:spPr>
          <a:xfrm>
            <a:off x="420624" y="9709768"/>
            <a:ext cx="6793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YAML-configurable / auto_detect_config(n, pos_rate)   </a:t>
            </a:r>
            <a:r>
              <a:rPr lang="en-US" sz="9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layers · hidden_dim · dropout · FFN*: auto from dataset size + class balance  ·  ig_n_steps (default 50) · top_features: configurable  ·  priority: YAML override &gt; auto_detect &gt; defaults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4970516" y="10465158"/>
            <a:ext cx="2258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i="1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 on next page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402336"/>
            <a:ext cx="70134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70134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Fig. 3  |  Legend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274320" y="493776"/>
            <a:ext cx="7013448" cy="9966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(a) Forward pass.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Branch 1 encodes the concatenated VH + VL sequence as a one-hot position × amino acid matrix (270 × 20 = 5,400 dimensions). Branch 2 independently encodes HCDR3 (30 × 20 = 600 dimensions). Both branches apply sinusoidal positional encoding and independent Pre-LN Transformer encoder stacks, then mean-pool to x_pooled and cdr3_pooled respectively. CDR3-guided cross-attention integrates the branches: cdr3_pooled provides the query (Q, teal arrow) and the full VH+VL sequence provides keys and values (K, V, dashed purple arrow). An x_pooled bypass (dotted line) feeds x_pooled directly to the concatenation step in parallel with the cross-attention output. The concatenated (2H)-dimensional vector feeds a classification head (LayerNorm → Dropout → Linear(2H → 2)) producing P(Pass) and P(Fail) via softmax. 
</a:t>
            </a: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(b) Integrated Gradients attribution.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Gradients (IG) computes the path integral of gradients from an all-zero baseline (x̄) to the actual input along a straight line, approximated with 50 Riemann steps; attribution target = class 1 (P(Pass)). The coral arrow entering section b at the centre denotes P(Pass) as the IG attribution target. Gradients branch left (∂F/∂x₁, purple) to Branch 1 and right (∂F/∂x₂, teal) to Branch 2, propagating backward (upward arrows) through their respective encoder stacks. Summing attributions over the amino acid dimension yields a VH+VL position importance vector (270 IMGT positions, purple box) and an HCDR3 position importance vector (30 IMGT positions, teal box). 
</a:t>
            </a: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(c) Outputs. 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Classification: P(Pass) scores thresholded at the Youden-optimal threshold embedded in the BEST_*.pt checkpoint after cross-validation. Population-level IG profiles (fed by VH+VL attribution vector): ranked bar chart of the top 60 positions with VH+VL positions coloured purple and HCDR3 positions teal, and a 1 × CDR3_length HCDR3 residue importance heatmap accumulated as mean absolute IG attributions across all antibodies. Per-antibody outputs (fed by HCDR3 attribution vector): individual IG waterfall plots and CDR3 in silico mutagenesis heatmaps assembled into PowerPoint files (300 DPI TIFF). All outputs generated automatically during --kfold, --train, and --predict without additional user commands. 
</a:t>
            </a:r>
            <a:r>
              <a:rPr lang="en-US" sz="105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</a:t>
            </a:r>
            <a:r>
              <a:rPr lang="en-US" sz="10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 layers, hidden_dim, dropout, and FFN are scaled automatically by auto_detect_config(n, pos_rate) from dataset size and class balance. All parameters are configurable via YAML without code modification (priority: YAML override &gt; auto_detect &gt; built-in defaults). Configurable: loss function, threshold optimisation method, ig_n_steps, top_features, output DPI, and PowerPoint assembly. SGKF, stratified group k-fold; PE, positional encoding; Pre-LN, pre-layer normalisation; IG, Integrated Gradients; PPT, PowerPoint.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320040"/>
            <a:ext cx="7013448" cy="0"/>
          </a:xfrm>
          <a:prstGeom prst="line">
            <a:avLst/>
          </a:prstGeom>
          <a:noFill/>
          <a:ln w="12700">
            <a:solidFill>
              <a:srgbClr val="00000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54864"/>
            <a:ext cx="7013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Supplementary Table 1  |  MLAbDev architecture comparison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274320" y="338328"/>
            <a:ext cx="70134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models share a consistent public python API  ·  YAML-configurable  ·  auto_scale from data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274320" y="594360"/>
            <a:ext cx="1463040" cy="365760"/>
          </a:xfrm>
          <a:prstGeom prst="rect">
            <a:avLst/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594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737360" y="594360"/>
            <a:ext cx="1463040" cy="365760"/>
          </a:xfrm>
          <a:prstGeom prst="rect">
            <a:avLst/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737360" y="59436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encoding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594360"/>
            <a:ext cx="1645920" cy="365760"/>
          </a:xfrm>
          <a:prstGeom prst="rect">
            <a:avLst/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594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mechanism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846320" y="594360"/>
            <a:ext cx="1645920" cy="365760"/>
          </a:xfrm>
          <a:prstGeom prst="rect">
            <a:avLst/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846320" y="59436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492240" y="594360"/>
            <a:ext cx="1097280" cy="365760"/>
          </a:xfrm>
          <a:prstGeom prst="rect">
            <a:avLst/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492240" y="59436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4320" y="960120"/>
            <a:ext cx="1463040" cy="804672"/>
          </a:xfrm>
          <a:prstGeom prst="rect">
            <a:avLst/>
          </a:prstGeom>
          <a:solidFill>
            <a:srgbClr val="EEEDFB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9184" y="996696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5C4BA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TransformerLM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737360" y="960120"/>
            <a:ext cx="146304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1792224" y="996696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 embedding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480–1,024-dim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960120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255264" y="996696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2-token Pre-LN Transformer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hidden=128  batch=32  lr=1e-5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auto: dropout, epochs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846320" y="960120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901184" y="996696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 CSV export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492240" y="960120"/>
            <a:ext cx="10972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547104" y="996696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4320" y="1764792"/>
            <a:ext cx="1463040" cy="804672"/>
          </a:xfrm>
          <a:prstGeom prst="rect">
            <a:avLst/>
          </a:prstGeom>
          <a:solidFill>
            <a:srgbClr val="E0F3EE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" y="1801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B6E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1737360" y="1764792"/>
            <a:ext cx="146304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1792224" y="1801368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PLM embedding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480–1,024-dim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200400" y="1764792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255264" y="180136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Dilated residual blocks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BatchNorm · AdaptiveMaxPool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kernel_size=5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4846320" y="1764792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01184" y="1801368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state CSV export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92240" y="1764792"/>
            <a:ext cx="10972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6547104" y="1801368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4320" y="2569464"/>
            <a:ext cx="1463040" cy="804672"/>
          </a:xfrm>
          <a:prstGeom prst="rect">
            <a:avLst/>
          </a:prstGeom>
          <a:solidFill>
            <a:srgbClr val="FEF0D7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329184" y="260604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C52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TransformerOneHot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1737360" y="2569464"/>
            <a:ext cx="146304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1792224" y="2606040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VH+VL + HCDR3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 (no PLM)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5,400 + 600 dims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3200400" y="2569464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3255264" y="260604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CDR3-guided cross-attention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dual-branch Pre-LN Transformer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auto: N, hidden, dropout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846320" y="2569464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901184" y="2606040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Integrated Gradients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position-resolved (270+30)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92240" y="2569464"/>
            <a:ext cx="10972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2"/>
          <p:cNvSpPr/>
          <p:nvPr/>
        </p:nvSpPr>
        <p:spPr>
          <a:xfrm>
            <a:off x="6547104" y="2606040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274320" y="3374136"/>
            <a:ext cx="1463040" cy="804672"/>
          </a:xfrm>
          <a:prstGeom prst="rect">
            <a:avLst/>
          </a:prstGeom>
          <a:solidFill>
            <a:srgbClr val="F3F3F3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329184" y="3410712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1737360" y="3374136"/>
            <a:ext cx="146304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1792224" y="3410712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k-mer · biophysical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· PLM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3200400" y="3374136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55264" y="3410712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1,000 trees · OOB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FeatureBuilder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HCDR3-stratified SGKF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4846320" y="3374136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50"/>
          <p:cNvSpPr/>
          <p:nvPr/>
        </p:nvSpPr>
        <p:spPr>
          <a:xfrm>
            <a:off x="4901184" y="3410712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TreeExplainer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PPT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492240" y="3374136"/>
            <a:ext cx="10972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6547104" y="3410712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274320" y="4178808"/>
            <a:ext cx="1463040" cy="804672"/>
          </a:xfrm>
          <a:prstGeom prst="rect">
            <a:avLst/>
          </a:prstGeom>
          <a:solidFill>
            <a:srgbClr val="F3F3F3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/>
          <p:nvPr/>
        </p:nvSpPr>
        <p:spPr>
          <a:xfrm>
            <a:off x="329184" y="4215384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A4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1737360" y="4178808"/>
            <a:ext cx="146304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/>
          <p:nvPr/>
        </p:nvSpPr>
        <p:spPr>
          <a:xfrm>
            <a:off x="1792224" y="4215384"/>
            <a:ext cx="13533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k-mer · biophysical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one-hot · PLM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auto-detected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3200400" y="4178808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3255264" y="4215384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 boosting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 classification / regression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HCDR3-stratified SGKF</a:t>
            </a:r>
            <a:endParaRPr lang="en-US" sz="850" dirty="0"/>
          </a:p>
        </p:txBody>
      </p:sp>
      <p:sp>
        <p:nvSpPr>
          <p:cNvPr id="61" name="Shape 59"/>
          <p:cNvSpPr/>
          <p:nvPr/>
        </p:nvSpPr>
        <p:spPr>
          <a:xfrm>
            <a:off x="4846320" y="4178808"/>
            <a:ext cx="164592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/>
          <p:nvPr/>
        </p:nvSpPr>
        <p:spPr>
          <a:xfrm>
            <a:off x="4901184" y="4215384"/>
            <a:ext cx="15361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TreeExplainer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waterfall PPT</a:t>
            </a:r>
            <a:endParaRPr lang="en-US" sz="850" dirty="0"/>
          </a:p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CDR3 mutagenesis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6492240" y="4178808"/>
            <a:ext cx="1097280" cy="804672"/>
          </a:xfrm>
          <a:prstGeom prst="rect">
            <a:avLst/>
          </a:prstGeom>
          <a:solidFill>
            <a:srgbClr val="FFFFFF"/>
          </a:solidFill>
          <a:ln w="5080">
            <a:solidFill>
              <a:srgbClr val="DDDD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4" name="Text 62"/>
          <p:cNvSpPr/>
          <p:nvPr/>
        </p:nvSpPr>
        <p:spPr>
          <a:xfrm>
            <a:off x="6547104" y="4215384"/>
            <a:ext cx="98755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274320" y="5129784"/>
            <a:ext cx="7013448" cy="841248"/>
          </a:xfrm>
          <a:prstGeom prst="roundRect">
            <a:avLst>
              <a:gd name="adj" fmla="val 6522"/>
            </a:avLst>
          </a:prstGeom>
          <a:solidFill>
            <a:srgbClr val="EAF4FF"/>
          </a:solidFill>
          <a:ln w="7620">
            <a:solidFill>
              <a:srgbClr val="2979B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365760" y="5184648"/>
            <a:ext cx="683056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" b="1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  All architectures: YAML-configurable without code modification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auto_scale_config() / auto_detect_config(): hidden_dim, dropout, batch, epochs, lr  from  n_samples × embedding_dim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Priority: YAML override  &gt;  auto_scale  &gt;  built-in defaults  |  YAML values applied as hard ceilings over auto-scaled values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1A527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Configurable: loss (ce/weighted_ce/focal/label_smooth)  ·  threshold (Youden/F2/cost matrix)  ·  SHAP top_n  ·  mutagenesis N  ·  DPI  ·  PPT toggle</a:t>
            </a:r>
            <a:endParaRPr lang="en-US" sz="800" dirty="0"/>
          </a:p>
        </p:txBody>
      </p:sp>
      <p:sp>
        <p:nvSpPr>
          <p:cNvPr id="67" name="Shape 65"/>
          <p:cNvSpPr/>
          <p:nvPr/>
        </p:nvSpPr>
        <p:spPr>
          <a:xfrm>
            <a:off x="274320" y="6099048"/>
            <a:ext cx="7013448" cy="658368"/>
          </a:xfrm>
          <a:prstGeom prst="roundRect">
            <a:avLst>
              <a:gd name="adj" fmla="val 8333"/>
            </a:avLst>
          </a:prstGeom>
          <a:solidFill>
            <a:srgbClr val="1C2B5A"/>
          </a:solidFill>
          <a:ln w="12700">
            <a:solidFill>
              <a:srgbClr val="1C2B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Text 66"/>
          <p:cNvSpPr/>
          <p:nvPr/>
        </p:nvSpPr>
        <p:spPr>
          <a:xfrm>
            <a:off x="384048" y="6153912"/>
            <a:ext cx="67939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Consistent public API: </a:t>
            </a: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train()  ·  kfold_validation()  ·  predict_proba()  ·  predict()  ·  save()  ·  load()
HCDR3-stratified group cross-validation  ·  Youden threshold embedded in checkpoint  ·  hidden-state CSV export  ·  PowerPoint interpretability output (300 DPI TIFF)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274320" y="6976872"/>
            <a:ext cx="7013448" cy="0"/>
          </a:xfrm>
          <a:prstGeom prst="line">
            <a:avLst/>
          </a:prstGeom>
          <a:noFill/>
          <a:ln w="7620">
            <a:solidFill>
              <a:srgbClr val="BBBBB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0" name="Text 68"/>
          <p:cNvSpPr/>
          <p:nvPr/>
        </p:nvSpPr>
        <p:spPr>
          <a:xfrm>
            <a:off x="274320" y="7086600"/>
            <a:ext cx="7013448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300"/>
              </a:spcAft>
              <a:buNone/>
            </a:pPr>
            <a:r>
              <a:rPr lang="en-US" sz="85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Comparison of the four ML architectures implemented in MLAbDev. All architectures share a consistent public API and are configurable via YAML without code modification. auto_scale_config() (neural architectures) and auto_detect_config() (tree architectures) scale hyperparameters from dataset size (n_norm axis) and data density (d_norm = samples per embedding dimension axis). YAML values are applied as hard ceilings over auto-scaled defaults. Random Forest and XGBoost additionally support regression mode for continuous biophysical targets (e.g. PSR normalised score, SEC monomer percentage); task is detected automatically from the label distribution. HCDR3-stratified group cross-validation (Levenshtein 80% identity clusters) is used throughout to prevent sequence leakage. SGKF, stratified group k-fold; PLM, protein language model; SHAP, SHapley Additive exPlanations; IG, Integrated Gradients; PPT, PowerPoint; DPI, dots per inch.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2667</Words>
  <Application>Microsoft Macintosh PowerPoint</Application>
  <PresentationFormat>Custom</PresentationFormat>
  <Paragraphs>221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Hoan Nguyen</cp:lastModifiedBy>
  <cp:revision>3</cp:revision>
  <dcterms:created xsi:type="dcterms:W3CDTF">2026-04-16T00:47:46Z</dcterms:created>
  <dcterms:modified xsi:type="dcterms:W3CDTF">2026-04-20T15:26:36Z</dcterms:modified>
</cp:coreProperties>
</file>