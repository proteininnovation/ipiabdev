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23935347d4501" /><Relationship Type="http://schemas.openxmlformats.org/officeDocument/2006/relationships/extended-properties" Target="/docProps/app.xml" Id="R11db80ec11bc4006" /><Relationship Type="http://schemas.openxmlformats.org/officeDocument/2006/relationships/officeDocument" Target="/ppt/presentation.xml" Id="Rfab87918fd8d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3abc32bc3454c"/>
  </p:sldMasterIdLst>
  <p:notesMasterIdLst>
    <p:notesMasterId xmlns:r="http://schemas.openxmlformats.org/officeDocument/2006/relationships" r:id="R21ffc54810cc4ac3"/>
  </p:notesMasterIdLst>
  <p:sldIdLst>
    <p:sldId xmlns:r="http://schemas.openxmlformats.org/officeDocument/2006/relationships" id="256" r:id="R021256ddb710493e"/>
    <p:sldId xmlns:r="http://schemas.openxmlformats.org/officeDocument/2006/relationships" id="257" r:id="Rc2b85d0cc684466c"/>
    <p:sldId xmlns:r="http://schemas.openxmlformats.org/officeDocument/2006/relationships" id="258" r:id="R6bb254dcc86d4c6d"/>
    <p:sldId xmlns:r="http://schemas.openxmlformats.org/officeDocument/2006/relationships" id="259" r:id="R90c23b38797f47a7"/>
    <p:sldId xmlns:r="http://schemas.openxmlformats.org/officeDocument/2006/relationships" id="260" r:id="Re7a7e02626c44966"/>
    <p:sldId xmlns:r="http://schemas.openxmlformats.org/officeDocument/2006/relationships" id="261" r:id="Rd36c5796517d4b7c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304a0e4284f87" /><Relationship Type="http://schemas.openxmlformats.org/officeDocument/2006/relationships/slideMaster" Target="/ppt/slideMasters/slideMaster1.xml" Id="R3863abc32bc3454c" /><Relationship Type="http://schemas.openxmlformats.org/officeDocument/2006/relationships/notesMaster" Target="/ppt/notesMasters/notesMaster1.xml" Id="R21ffc54810cc4ac3" /><Relationship Type="http://schemas.openxmlformats.org/officeDocument/2006/relationships/presProps" Target="/ppt/presProps.xml" Id="R40d2dd48d64a4259" /><Relationship Type="http://schemas.openxmlformats.org/officeDocument/2006/relationships/viewProps" Target="/ppt/viewProps.xml" Id="Rd8dfdcc7e51746a3" /><Relationship Type="http://schemas.openxmlformats.org/officeDocument/2006/relationships/tableStyles" Target="/ppt/tableStyles.xml" Id="R1cf392409bd24da6" /><Relationship Type="http://schemas.openxmlformats.org/officeDocument/2006/relationships/slide" Target="/ppt/slides/slide1.xml" Id="R021256ddb710493e" /><Relationship Type="http://schemas.openxmlformats.org/officeDocument/2006/relationships/slide" Target="/ppt/slides/slide2.xml" Id="Rc2b85d0cc684466c" /><Relationship Type="http://schemas.openxmlformats.org/officeDocument/2006/relationships/slide" Target="/ppt/slides/slide3.xml" Id="R6bb254dcc86d4c6d" /><Relationship Type="http://schemas.openxmlformats.org/officeDocument/2006/relationships/slide" Target="/ppt/slides/slide4.xml" Id="R90c23b38797f47a7" /><Relationship Type="http://schemas.openxmlformats.org/officeDocument/2006/relationships/slide" Target="/ppt/slides/slide5.xml" Id="Re7a7e02626c44966" /><Relationship Type="http://schemas.openxmlformats.org/officeDocument/2006/relationships/slide" Target="/ppt/slides/slide6.xml" Id="Rd36c5796517d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b183790759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640a84c6c7456c" /><Relationship Type="http://schemas.openxmlformats.org/officeDocument/2006/relationships/notesMaster" Target="/ppt/notesMasters/notesMaster1.xml" Id="R4599cbd4b468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876b9fa1b4a5c" /><Relationship Type="http://schemas.openxmlformats.org/officeDocument/2006/relationships/notesMaster" Target="/ppt/notesMasters/notesMaster1.xml" Id="R0aba894f81df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ed003ef23c4abc" /><Relationship Type="http://schemas.openxmlformats.org/officeDocument/2006/relationships/notesMaster" Target="/ppt/notesMasters/notesMaster1.xml" Id="R770ff58ea932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f35f771c414356" /><Relationship Type="http://schemas.openxmlformats.org/officeDocument/2006/relationships/notesMaster" Target="/ppt/notesMasters/notesMaster1.xml" Id="Rad50321794c64f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ef3f7c6a64887" /><Relationship Type="http://schemas.openxmlformats.org/officeDocument/2006/relationships/notesMaster" Target="/ppt/notesMasters/notesMaster1.xml" Id="R096ea94c32c245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dc9daa74243f2" /><Relationship Type="http://schemas.openxmlformats.org/officeDocument/2006/relationships/notesMaster" Target="/ppt/notesMasters/notesMaster1.xml" Id="Rc0bef2af7e2246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a201bd8784bd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7eb8fa69934377" /><Relationship Type="http://schemas.openxmlformats.org/officeDocument/2006/relationships/slideLayout" Target="/ppt/slideLayouts/slideLayout1.xml" Id="R67fc585724e14c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c585724e14c0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c99d11c57402a" /><Relationship Type="http://schemas.openxmlformats.org/officeDocument/2006/relationships/image" Target="/ppt/media/image.png" Id="R205860815d194e0f" /><Relationship Type="http://schemas.openxmlformats.org/officeDocument/2006/relationships/image" Target="/ppt/media/image2.png" Id="Raff4c670461b4b68" /><Relationship Type="http://schemas.openxmlformats.org/officeDocument/2006/relationships/image" Target="/ppt/media/image3.png" Id="R972cac448f3a4883" /><Relationship Type="http://schemas.openxmlformats.org/officeDocument/2006/relationships/image" Target="/ppt/media/image4.png" Id="R15cb5eec84d94998" /><Relationship Type="http://schemas.openxmlformats.org/officeDocument/2006/relationships/notesSlide" Target="/ppt/notesSlides/notesSlide1.xml" Id="R42867304a55a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0de9eb756430a" /><Relationship Type="http://schemas.openxmlformats.org/officeDocument/2006/relationships/notesSlide" Target="/ppt/notesSlides/notesSlide2.xml" Id="R17ba281c3e38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b49ea2d54ff2" /><Relationship Type="http://schemas.openxmlformats.org/officeDocument/2006/relationships/notesSlide" Target="/ppt/notesSlides/notesSlide3.xml" Id="R667065e622bf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f2a4fe98949d6" /><Relationship Type="http://schemas.openxmlformats.org/officeDocument/2006/relationships/notesSlide" Target="/ppt/notesSlides/notesSlide4.xml" Id="Rfaf251e139074f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c509a19644ab" /><Relationship Type="http://schemas.openxmlformats.org/officeDocument/2006/relationships/notesSlide" Target="/ppt/notesSlides/notesSlide5.xml" Id="R425a00f0be354e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4dfdebb124bdc" /><Relationship Type="http://schemas.openxmlformats.org/officeDocument/2006/relationships/notesSlide" Target="/ppt/notesSlides/notesSlide6.xml" Id="Rdb6044d016fa4c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84466F-A2B5-4E96-D8E8-85FB12BF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933" y="3984304"/>
            <a:ext cx="3714622" cy="2154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latin typeface="Arial"/>
                <a:ea typeface="Arial"/>
                <a:cs typeface="Arial"/>
              </a:rPr>
              <a:t>       c</a:t>
            </a:r>
            <a:r>
              <a:rPr sz="800">
                <a:latin typeface="Arial"/>
                <a:ea typeface="Arial"/>
                <a:cs typeface="Arial"/>
              </a:rPr>
              <a:t>. IPI PSR-Elisa data after denoising by random</a:t>
            </a:r>
          </a:p>
        </p:txBody>
      </p:sp>
      <p:pic>
        <p:nvPicPr>
          <p:cNvPr id="19" name="Content Placeholder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860815d19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948" y="1460834"/>
            <a:ext cx="2756359" cy="1982283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578410-AE74-A7D0-99C5-EBF2F38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3" y="1284718"/>
            <a:ext cx="3013455" cy="2154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latin typeface="Arial"/>
                <a:ea typeface="Arial"/>
                <a:cs typeface="Arial"/>
              </a:rPr>
              <a:t>a</a:t>
            </a:r>
            <a:r>
              <a:rPr sz="800">
                <a:latin typeface="Arial"/>
                <a:ea typeface="Arial"/>
                <a:cs typeface="Arial"/>
              </a:rPr>
              <a:t>. IPI PSR-Elisa data before before filtering</a:t>
            </a:r>
          </a:p>
        </p:txBody>
      </p:sp>
      <p:pic>
        <p:nvPicPr>
          <p:cNvPr id="2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4c670461b4b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55228" y="1557695"/>
            <a:ext cx="2574513" cy="2071944"/>
          </a:xfrm>
          <a:prstGeom xmlns:a="http://schemas.openxmlformats.org/drawingml/2006/main" prst="rect">
            <a:avLst/>
          </a:prstGeom>
        </p:spPr>
      </p:pic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cac448f3a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33042" y="1590355"/>
            <a:ext cx="693288" cy="475907"/>
          </a:xfrm>
          <a:prstGeom xmlns:a="http://schemas.openxmlformats.org/drawingml/2006/main" prst="rect">
            <a:avLst/>
          </a:prstGeom>
        </p:spPr>
      </p:pic>
      <p:pic>
        <p:nvPicPr>
          <p:cNvPr id="2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b5eec84d9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04800" y="4245977"/>
            <a:ext cx="2937684" cy="2183211"/>
          </a:xfrm>
          <a:prstGeom xmlns:a="http://schemas.openxmlformats.org/drawingml/2006/main" prst="rect">
            <a:avLst/>
          </a:prstGeom>
        </p:spPr>
      </p:pic>
      <p:pic>
        <p:nvPicPr>
          <p:cNvPr id="2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cac448f3a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3949" y="4245976"/>
            <a:ext cx="671003" cy="516109"/>
          </a:xfrm>
          <a:prstGeom xmlns:a="http://schemas.openxmlformats.org/drawingml/2006/main" prst="rect">
            <a:avLst/>
          </a:prstGeom>
        </p:spPr>
      </p:pic>
      <p:sp>
        <p:nvSpPr>
          <p:cNvPr id="11" name="Down Arrow 10">
            <a:extLst xmlns:a="http://schemas.openxmlformats.org/drawingml/2006/main">
              <a:ext uri="{FF2B5EF4-FFF2-40B4-BE49-F238E27FC236}">
                <a16:creationId xmlns:a16="http://schemas.microsoft.com/office/drawing/2014/main" id="{8C25D792-98C9-ECD2-7711-B677680B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210" y="3541712"/>
            <a:ext cx="820244" cy="442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288FDA08-D645-7E11-0BF4-3B111B5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65070" y="-5681"/>
            <a:ext cx="12492989" cy="82173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300" b="1"/>
              <a:t>Supplementary Fig. 1</a:t>
            </a:r>
            <a:r>
              <a:rPr sz="1300"/>
              <a:t> | PSR-ELISA label quality control: SVM decision boundary modelling and t-SNE </a:t>
            </a:r>
            <a:r>
              <a:rPr sz="1300"/>
              <a:t>visualisation</a:t>
            </a:r>
            <a:r>
              <a:rPr sz="1300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745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90DB9E-2170-4CC7-88DE-605FAF3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BFA4B0-A874-4A73-B39E-5155564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2  |  TransformerLM architecture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2ED1F2-84E9-46ED-971E-5719152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Fixed-length PLM embedding → 2-token Pre-LN Transformer → P(Pass)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78ECC8-6AAF-4D66-B096-AB3E971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994314-4B09-4A09-9D65-B3FB93A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76656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PLM embedding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FFAEE6-BF62-48D7-867D-8C7ADFD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77824"/>
            <a:ext cx="2834640" cy="2187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C4BAD"/>
                </a:solidFill>
                <a:latin typeface="Arial"/>
                <a:ea typeface="Arial"/>
                <a:cs typeface="Arial"/>
              </a:rPr>
              <a:t>e.g. AntiBERTa2-CSSP  (1,024-dim)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506BA42-41E0-4671-B8FD-95BD0EE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115568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04DBF0-D432-490A-AD45-5FFAC85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98448"/>
            <a:ext cx="28346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6346EDB-52AD-4CE4-935A-CC18184F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3502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projection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53BC21-DABC-4458-B0FA-69F3571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0"/>
            <a:ext cx="28346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6D0F5"/>
                </a:solidFill>
                <a:latin typeface="Arial"/>
                <a:ea typeface="Arial"/>
                <a:cs typeface="Arial"/>
              </a:rPr>
              <a:t>Linear(emb_dim → 128)  ·  LayerNorm  ·  Dropout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51DB85-9EA1-4D38-AFDA-FAEE932B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810512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BAA350-B021-4373-A08C-1764ABF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993392"/>
            <a:ext cx="283464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8F4997-63E4-499F-A393-87CBBBA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2996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2-token sequence  [CLS, embed]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03A34E-631A-4E7F-AB38-862A60C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31136"/>
            <a:ext cx="2834640" cy="2187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C4BAD"/>
                </a:solidFill>
                <a:latin typeface="Arial"/>
                <a:ea typeface="Arial"/>
                <a:cs typeface="Arial"/>
              </a:rPr>
              <a:t>CLS: learnable  (init trunc-normal  σ = 0.02)</a:t>
            </a:r>
            <a:endParaRPr sz="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3F0636D-8617-4089-B52B-64614C48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46888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00844FD-8BB1-4E2A-8288-B2297DC9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51760"/>
            <a:ext cx="28346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5254D2-DE25-4971-BE83-D702B37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88336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 (Pre-LN)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2B11B3-66AF-47A1-985F-F4375237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44368"/>
            <a:ext cx="2834640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C0B8EE"/>
                </a:solidFill>
                <a:latin typeface="Arial"/>
                <a:ea typeface="Arial"/>
                <a:cs typeface="Arial"/>
              </a:rPr>
              <a:t>2 layers (n &lt; 50k) or 3 layers (n ≥ 50k)  ·  8 heads  ·  FFN = 512  ·  dropout*</a:t>
            </a:r>
            <a:endParaRPr sz="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F37F2C-C886-4838-9982-24C55AD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236976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E85A2B8-54E6-47D7-92D2-ED6664B3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19856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DEFE3D-C6F0-4C43-B72D-C24C5AA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1985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CLS token  →  h  (128-dim)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4BB21AC-6C72-41F9-9B99-31F4719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84048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80D3A1E-4762-482F-B31D-00B56CC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23360"/>
            <a:ext cx="28346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EEF7B49-42A4-404E-9081-7581B82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5993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head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A1ADB4E-8D5A-47A2-A851-AD288CE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79392"/>
            <a:ext cx="28346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LayerNorm  ·  Dropout  ·  Linear(128 → 2)</a:t>
            </a:r>
            <a:endParaRPr sz="8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97F2189-4F6D-4CBB-857A-EF151A3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535424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6F5F248-632B-4436-A3E1-FEEBA1C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18304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6BAA168-E04A-4166-B0F3-7A9D873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18304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CBEBED8-E5B3-4AA8-B979-718C509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303520"/>
            <a:ext cx="2834640" cy="1019556"/>
          </a:xfrm>
          <a:prstGeom xmlns:a="http://schemas.openxmlformats.org/drawingml/2006/main" prst="roundRect">
            <a:avLst>
              <a:gd name="adj" fmla="val 538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70C2155-381E-43DF-8266-A91787B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58384"/>
            <a:ext cx="2651760" cy="928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YAML-configurable / auto_scale_config()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dropout*: 0.45 → 0.10  scaled by d_norm = n / emb_dim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epochs: 55 → 15  scaled by n_norm = dataset size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loss: auto-selected  (ce / weighted_ce / focal / label_smooth)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Priority: YAML override &gt; auto_scale &gt; built-in defaults</a:t>
            </a:r>
            <a:endParaRPr sz="8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2F306F4-5B51-4963-A6AD-F3B6457E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640080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Fixed hyperparameters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0A9EFDF-15AE-4628-BEB8-E3CF075C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235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hidden_dim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8E69FDD-F157-430F-BD4F-34450BA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9235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128  (always — PLM head, not a re-learner)</a:t>
            </a:r>
            <a:endParaRPr sz="9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28ABB5A-F2F8-45F1-B2AF-27644EE6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1521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num_heads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6CA04A8-C6B9-43C9-85AD-10876283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1521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8  →  head_dim = 16</a:t>
            </a:r>
            <a:endParaRPr sz="9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D67E209-FA47-4453-95BC-34055E9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3807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batch_size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F01CD93-3160-4D40-ADBA-50346643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807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32  (flat minima, better generalisation)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764C960-C9F0-45D0-96EC-AC9A490C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093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lr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EAAB3F3-EDB6-4DCD-86C2-93C12CD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093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 × 10⁻⁵  (matched to batch = 32)</a:t>
            </a:r>
            <a:endParaRPr sz="9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A7C2015-4CC5-4E42-9064-F4082572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379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FFN</a:t>
            </a:r>
            <a:endParaRPr sz="9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6FFE285-7FBA-47BB-97A7-C6D1A37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379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512  (4 × hidden_dim)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E3ECBCA-FEC7-4AF0-B85A-F8156FD2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665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Pre-LN</a:t>
            </a:r>
            <a:endParaRPr sz="9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FD3B92A-7115-4A57-8FAB-58315EE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65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norm_first=True  (stable at small batch)</a:t>
            </a:r>
            <a:endParaRPr sz="9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17B93019-48F8-4604-B74A-0527E9A2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40864"/>
            <a:ext cx="3813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6B9B416B-4BAF-4E78-B149-D6C1460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96312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Auto-scaled parameters</a:t>
            </a:r>
            <a:endParaRPr sz="10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7399F32-EC28-4176-AF53-AB4732D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706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dropout*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2F8DF494-99BE-4322-AFCF-B4D8664F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7706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0.45 − 0.30 × d_norm   (d_norm = samples/emb_dim)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F601A09D-C1AC-4192-897D-333D076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992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num_layers</a:t>
            </a:r>
            <a:endParaRPr sz="9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48575E5-DAE9-4AA4-8E54-3BCD9828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992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2  (n &lt; 50k)   or   3  (n ≥ 50k)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3944827B-9BB3-4762-9C39-CCB26AA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278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epochs</a:t>
            </a:r>
            <a:endParaRPr sz="9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056CC4EC-2968-43FC-B084-B5974675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2278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55 → 15   scaled by n_norm</a:t>
            </a:r>
            <a:endParaRPr sz="9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30AAFA8-F276-40DF-99C0-DC857B5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564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weight_decay</a:t>
            </a:r>
            <a:endParaRPr sz="90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D66C00E8-F10F-43C2-96AB-42704EB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564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0.001  (n &lt; 50k)   →   0.0005  (n ≥ 50k)</a:t>
            </a:r>
            <a:endParaRPr sz="9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D199C72E-8A2E-4FF3-AE1C-23068493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6850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patience</a:t>
            </a:r>
            <a:endParaRPr sz="9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67975A1F-4E24-4900-85DE-2392423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850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7  (n &lt; 50k)   →   5  (n ≥ 50k)</a:t>
            </a:r>
            <a:endParaRPr sz="90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F041745C-AC2C-47BA-BF67-FC25EB52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078224"/>
            <a:ext cx="35935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10-fold SGKF · IPI PSR (n = 11,265 · AntiBERTa2-CSSP)
</a:t>
            </a: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AUC = 0.957 ± 0.008
Best fold AUC = 0.968   ·   Youden threshold t = 0.441
Mean best epoch = 26</a:t>
            </a:r>
            <a:endParaRPr sz="85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C1F0514-FF60-4ED7-9E81-2D7F938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79108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3F26309-481B-488A-B106-EAB951C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688836"/>
            <a:ext cx="7013448" cy="3909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Schematic of the TransformerLM classifier. A fixed-length protein language model (PLM) embedding is projected by a Linear(emb_dim → 128) block (LayerNorm + Dropout), then combined with a learnable CLS token (truncated normal initialisation, σ = 0.02) to form a 2-token input sequence [CLS, embed]. The sequence passes through a Pre-Layer Normalisation (Pre-LN) Transformer encoder producing a CLS token representation that feeds a classification head (LayerNorm → Dropout → Linear(128 → 2)) producing P(Pass) and P(Fail) via softmax. Dashed line: automatic export of the 128-dimensional CLS hidden state as a task-specific embedding CSV for downstream clustering or t-SNE. *Dropout (0.10–0.45) and epoch ceiling (15–55) are scaled automatically by auto_scale_config() using two axes: n_norm (log-scaled dataset size) and d_norm (samples per embedding dimension). All other hyperparameters are fixed across all PLMs and dataset sizes. All parameters are configurable via YAML without code modification (priority: YAML override &gt; auto_scale &gt; built-in defaults).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729998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7AB57C-A902-46CC-A2EA-A93E5287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E08EEE-1088-4927-8DB8-CB6A74B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3  |  CNN architecture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5A78B7-B896-4A70-8124-05CC3AA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Flat PLM embedding treated as 1D signal  ·  dilated residual blocks  ·  AdaptiveMaxPool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84755D-F5CC-4B04-874D-1D6D2AF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DDA7A4-3BDD-458A-AEEB-1B02992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PLM embedding  (B, emb_dim)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764C9E-A879-4E05-9734-95FFE1F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06070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A965967-BB77-4166-ADD8-E5B9562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25296"/>
            <a:ext cx="28346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F509DF-47E6-4509-8DB7-09653E9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25296"/>
            <a:ext cx="2834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Unsqueeze  →  (B, 1, emb_dim)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2941933-C5F7-4C77-B4D5-CE2A2A0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60934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A4DEB41-E56A-4FF8-ABAD-C968E8FB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73936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B5C608D-B53C-4DF6-A470-C3F1371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1051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1  (dilation = 1)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FEABE5-0263-47F1-B095-7F67634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48256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1 → 128  ·  k=5  ·  BatchNorm  ·  GELU  ·  shortcut</a:t>
            </a:r>
            <a:endParaRPr sz="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FE13513-679E-4470-A124-976C86B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322576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26AB40A-68DE-4EDE-981C-681358BC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87168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847B147-E54A-453E-AD2A-C3E8B9F3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2374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2  (dilation = 2)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3E9BDA-A63A-498E-BB91-E5B2ACB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61488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128 → 256  ·  k=5  ·  BatchNorm  ·  GELU  ·  shortcut</a:t>
            </a:r>
            <a:endParaRPr sz="8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97AD81-161D-4CB5-A23C-344FE4D8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3580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BDE241-543F-4B28-8007-A33F063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0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093D92-08BD-4CEA-B7A8-E690809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36976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3  (dilation = 4)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F953305-CDD3-4347-B49E-700060D5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74720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256 → 256  ·  k=5  ·  BatchNorm  ·  GELU  ·  shortcut</a:t>
            </a:r>
            <a:endParaRPr sz="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2B3797A-0D9C-43A2-8F05-F943696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49040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6CC70-4F53-4EB1-A643-5B794EB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13632"/>
            <a:ext cx="28346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F10ED6-4FF4-4A7C-851E-794B6C4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50208"/>
            <a:ext cx="2834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AdaptiveMaxPool1d(1)  →  (B, 256)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469EAC-A19F-4DCC-B40F-84621E2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142232"/>
            <a:ext cx="2834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Arial"/>
                <a:ea typeface="Arial"/>
                <a:cs typeface="Arial"/>
              </a:rPr>
              <a:t>max activation per channel  ·  automatic feature selection</a:t>
            </a:r>
            <a:endParaRPr sz="8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9136391-543F-41ED-879D-BF487B0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37083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053F901-B437-4301-BC4F-5A0B2051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35424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5F76AE5-0D30-4B55-B86A-7DACEAE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72000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FC head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8032DD9-E2F3-4F80-9713-26455F5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09744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Dropout  ·  Linear(256 → hidden*)  ·  BN  ·  GELU  ·  Dropout  ·  Linear(hidden* → 2)</a:t>
            </a:r>
            <a:endParaRPr sz="8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AE0F502-3890-4B0C-95B2-51069EB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08406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0B012A-9718-4E7C-ADFD-11B70DE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248656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9D613AD-2C29-4132-A9BB-9A6ADFC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24865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2B86D79-D357-48F0-BD30-4EC97AA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833872"/>
            <a:ext cx="2834640" cy="1019556"/>
          </a:xfrm>
          <a:prstGeom xmlns:a="http://schemas.openxmlformats.org/drawingml/2006/main" prst="roundRect">
            <a:avLst>
              <a:gd name="adj" fmla="val 538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477770A-EC76-49DF-BFCF-1BE9834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888736"/>
            <a:ext cx="2651760" cy="928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YAML-configurable / auto_scale_config()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hidden_dim*: 64 – 256  scaled by d_norm (n / emb_dim)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dropout: 0.10 – 0.45  scaled by d_norm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batch_size, epochs, lr: scaled by n_norm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loss type: auto  (balanced / imbalanced dataset)</a:t>
            </a:r>
            <a:endParaRPr sz="8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8EEC6DF-DFAB-4935-BCCD-A925AA4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640080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Architecture details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70D4CB4-0D7F-4BD8-AE25-C5A9DE21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235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kernel_size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08343B-D182-4EE6-9D7C-791997DA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235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  (all Conv1d layers)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5513930-76CF-493A-8D30-57ED009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1521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dilation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2ADFA6C-AD76-4B60-BA95-E5E63B8A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521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1, 2, 4  →  receptive fields 5, 9, 17</a:t>
            </a:r>
            <a:endParaRPr sz="9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1A7CE70-4CCA-4BA2-A86D-CC3157F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3807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channels</a:t>
            </a:r>
            <a:endParaRPr sz="9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0751A8F-ABD2-4B6D-8076-C8669B88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807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 → 128 → 256 → 256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310EACF-0FE7-47D9-A8D4-3F83E81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093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shortcut</a:t>
            </a:r>
            <a:endParaRPr sz="9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33EE47A-1BD7-4734-8DFA-6D46C84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093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projection (≠ dims)  or  identity</a:t>
            </a:r>
            <a:endParaRPr sz="9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1063F8F4-08A5-4DBE-AFC3-E4D0384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379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pooling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EDBEAB9B-0118-47E6-8182-966EC61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379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AdaptiveMaxPool1d(1)  →  256-dim</a:t>
            </a:r>
            <a:endParaRPr sz="9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A5298AD-5561-4229-B25F-E8BF161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665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BatchNorm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E2ADF2A-1CF3-4CEA-9F7A-7E4B6AB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665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inside every residual block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32DEA52-107A-40C5-8B84-5E6123C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951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activation</a:t>
            </a:r>
            <a:endParaRPr sz="9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0B493CDA-E782-4FE5-9B26-7B8634C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951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GELU throughout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F1661546-E60D-4CDA-B7E8-F0ABD7C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237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†drop_last</a:t>
            </a:r>
            <a:endParaRPr sz="9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52778183-80FC-4DB7-8262-393B1F8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237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True  (prevents BN crash at batch_size=1)</a:t>
            </a:r>
            <a:endParaRPr sz="9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32FEC09-7614-4396-AA7D-1B9DD61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862072"/>
            <a:ext cx="3813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9D4694C-35EA-400E-968A-D3EFA5F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26664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Why CNN + TransformerLM ensemble?</a:t>
            </a:r>
            <a:endParaRPr sz="10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353AE6F5-EE3C-4E39-AA0B-DF13E0E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00984"/>
            <a:ext cx="3813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CNN extracts multi-scale convolutional features with global max-pooling. TransformerLM uses CLS-guided attention. Both operate on the same PLM embedding but through structurally different computational paths: prediction errors are partially uncorrelated, making them ideal ensemble partners. A simple 0.5 / 0.5 score average is expected to yield AUC ≈ 0.970–0.975.</a:t>
            </a:r>
            <a:endParaRPr sz="90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BAA0DC8B-2371-431D-9887-8CADE4F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251960"/>
            <a:ext cx="35935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10-fold SGKF · IPI PSR (n = 11,265 · AntiBERTa2-CSSP)
</a:t>
            </a: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AUC = 0.966 (folds 1–4)
Converges in 9–12 epochs  (vs 12–29, TransformerLM)
Ensemble → AUC ≈ 0.97+</a:t>
            </a:r>
            <a:endParaRPr sz="85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04A5405-52E0-4DB4-A037-BF70D91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036308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AAC47A1-03FC-473E-81C4-397D5265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46036"/>
            <a:ext cx="7013448" cy="3451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Schematic of the 1D residual CNN classifier. A PLM embedding vector (B × emb_dim) is unsqueezed to (B, 1, emb_dim) and processed by three dilated residual blocks (dilations 1, 2, 4; kernel_size = 5) capturing multi-scale patterns at receptive fields of 5, 9, and 17 positions. Each block applies two Conv1d layers with BatchNorm1d and GELU activation, with a projection shortcut where channel dimensions change. AdaptiveMaxPool1d(1) collapses the feature map to a 256-dimensional vector by selecting the maximum activation per channel — input-conditioned feature selection robust to PLM embedding dimension ordering. The FC head applies Dropout → Linear(256 → hidden*) → BatchNorm1d → GELU → Dropout → Linear(hidden* → 2). †drop_last=True prevents BatchNorm receiving a single-sample batch (undefined variance). Dashed line: penultimate-layer hidden state exported as CSV. *hidden_dim (64–256) and dropout (0.10–0.45) are scaled automatically by auto_scale_config() from d_norm (samples per embedding dimension). All parameters are configurable via YAML without code modification.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995523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1FEC69-F9BB-4D49-A751-1E9DC5C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576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F5F3DE-1F60-40FA-A2EA-90A1D19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4  |  </a:t>
            </a: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TransformerOneHot</a:t>
            </a: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: Architecture and Integrated Gradients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256511-4C88-45CE-A59C-79CAE77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5760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latin typeface="Arial"/>
                <a:ea typeface="Arial"/>
                <a:cs typeface="Arial"/>
              </a:rPr>
              <a:t>Dual-branch one-hot Transformer  ·  CDR3-guided cross-attention  ·  position-resolved IG attribution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90BEC9-8B5B-486F-9922-DA04800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0350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  Forward pass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BA09AA3-887B-487A-907E-5282C846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04672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Branch 1  —  VH + VL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D2B187-A7A5-48AA-9ACC-2A73C84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04672"/>
            <a:ext cx="19842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Branch 2  —  HCDR3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A0F5CE-0B6C-4BF4-A426-F01F6043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33272"/>
            <a:ext cx="19202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984598-B5D5-46A2-9385-8E13C56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6984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VH + VL  one-hot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87C927-531C-4B41-AFA9-AD7573D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89304"/>
            <a:ext cx="19202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C4BAD"/>
                </a:solidFill>
                <a:latin typeface="Arial"/>
                <a:ea typeface="Arial"/>
                <a:cs typeface="Arial"/>
              </a:rPr>
              <a:t>270 × 20 = 5,400 dim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792DFD7-54E9-4A16-BE9D-CDB5904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45336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7D70F53-38C9-4B90-AB8C-4E0A17C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73352"/>
            <a:ext cx="19202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805124-6C76-462D-9AC5-6B553B47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73352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Sinusoidal PE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D78FAEA-A043-4250-93D1-D9BFB32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391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2B4517E-E906-4E13-BCF0-E7E78C9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67128"/>
            <a:ext cx="19202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F9EA75-EAD0-421C-B2A1-1AED298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03704"/>
            <a:ext cx="1920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(Pre-LN)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FE518FF-184C-46BA-A547-0CAD70D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59736"/>
            <a:ext cx="1920240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0B8EE"/>
                </a:solidFill>
                <a:latin typeface="Arial"/>
                <a:ea typeface="Arial"/>
                <a:cs typeface="Arial"/>
              </a:rPr>
              <a:t>N layers  ·  8 heads  ·  FFN*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F3B7D10-DC51-487E-9D27-9A727AF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52344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F4C6B94-508C-4AAA-9583-2B85E2F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80360"/>
            <a:ext cx="192024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6FEAD9-DCBA-48D3-B4D4-8E89479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80360"/>
            <a:ext cx="19202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Mean pool  →  x_pooled (H)</a:t>
            </a:r>
            <a:endParaRPr sz="11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634C786-97A3-414D-ACA3-F4D4BF9F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33272"/>
            <a:ext cx="1984248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3AEFE6-3A14-4286-96C2-FE2BB09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69848"/>
            <a:ext cx="1984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HCDR3  one-hot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C4D700-45F0-49B5-A64F-F1CD568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289304"/>
            <a:ext cx="1984248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0B6E56"/>
                </a:solidFill>
                <a:latin typeface="Arial"/>
                <a:ea typeface="Arial"/>
                <a:cs typeface="Arial"/>
              </a:rPr>
              <a:t>25 × 20 = 500 dim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72F705-2D4C-4DDD-8993-359B1638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1545336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9D216F3-33EF-47E4-BC6B-9757CB5F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73352"/>
            <a:ext cx="198424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E8A7A58-15C6-474F-9D87-12E69C7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73352"/>
            <a:ext cx="1984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Sinusoidal PE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4F40F52-C555-4BC9-87C2-F958D17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20391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BC17337-20D8-44C8-80A0-A501680F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67128"/>
            <a:ext cx="1984248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1912CF1-1D63-4360-89D7-45027B7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03704"/>
            <a:ext cx="1984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(Pre-LN)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CC1532-B18D-4E75-8A7F-F19310C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459736"/>
            <a:ext cx="1984248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E1CB"/>
                </a:solidFill>
                <a:latin typeface="Arial"/>
                <a:ea typeface="Arial"/>
                <a:cs typeface="Arial"/>
              </a:rPr>
              <a:t>N layers  ·  8 heads  ·  FFN*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E4120D-7CF2-4C16-AEEE-2FCC888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2752344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837302A-8363-4212-934E-7C85CC6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80360"/>
            <a:ext cx="1984248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BC02EEE-4397-4ED9-9E1B-E035E81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80360"/>
            <a:ext cx="19842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Mean pool  →  cdr3_pooled (H)</a:t>
            </a:r>
            <a:endParaRPr sz="11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1023092-BAFB-46AC-99A6-26F88AD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82696"/>
            <a:ext cx="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7F88885-548B-4967-A6FB-3E6ADCB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130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A51503D-3FF7-4EEE-BA8C-AE5FB31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657600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K, V  →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937795C-F78E-4B75-B4B2-EE88352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3282696"/>
            <a:ext cx="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575CB9C-644B-40BD-BE8B-E44384D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13048"/>
            <a:ext cx="12207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4BE64AB-2ECD-4C58-880D-36259FE0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657600"/>
            <a:ext cx="731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← Q</a:t>
            </a:r>
            <a:endParaRPr sz="9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EB4F98D-B8FC-43AA-8B3D-793381A4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20440"/>
            <a:ext cx="2697480" cy="62179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EF0D7"/>
          </a:solidFill>
          <a:ln xmlns:a="http://schemas.openxmlformats.org/drawingml/2006/main" w="6350">
            <a:solidFill>
              <a:srgbClr val="FEF0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2BF15E8-425E-42C6-999B-C301391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57016"/>
            <a:ext cx="2697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C5200"/>
                </a:solidFill>
                <a:latin typeface="Arial"/>
                <a:ea typeface="Arial"/>
                <a:cs typeface="Arial"/>
              </a:rPr>
              <a:t>CDR3-guided cross-attention</a:t>
            </a:r>
            <a:endParaRPr sz="11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CBA7880-24E7-438F-A480-12390A99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831336"/>
            <a:ext cx="2697480" cy="286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8C5200"/>
                </a:solidFill>
                <a:latin typeface="Arial"/>
                <a:ea typeface="Arial"/>
                <a:cs typeface="Arial"/>
              </a:rPr>
              <a:t>Q = cdr3_pooled  ·  K, V = x_full (all VH+VL positions)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57623E5-E9B9-49E1-8BF9-F5A3992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82696"/>
            <a:ext cx="0" cy="1243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C4BA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ADE93F9-B762-441D-ACAC-76DCC366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526280"/>
            <a:ext cx="1033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5C4BAD"/>
            </a:solidFill>
            <a:prstDash val="sysDot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B29A84D-26F3-49A9-B7BC-138EFB30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941064"/>
            <a:ext cx="1106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x_pooled</a:t>
            </a:r>
            <a:endParaRPr sz="800"/>
          </a:p>
          <a:p xmlns:a="http://schemas.openxmlformats.org/drawingml/2006/main">
            <a:pPr marL="0" indent="0" algn="r">
              <a:buNone/>
            </a:pPr>
            <a:r>
              <a:rPr sz="8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(bypass)</a:t>
            </a:r>
            <a:endParaRPr sz="80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B9B04-99DC-4218-AE26-C806A2DD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4142232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8C52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9C42CC9-CD3C-4ACF-A4DE-F6D863C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325112"/>
            <a:ext cx="269748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C273BFB-B9E9-4DFB-B40D-C5238EB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325112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Concatenate  [ x_pooled  ‖  attn_out ] (2H)</a:t>
            </a:r>
            <a:endParaRPr sz="110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2593D819-BB4B-40E9-9617-5B8F505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4745736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3FC20BD-F988-4C7F-8E6A-2E1E696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892040"/>
            <a:ext cx="269748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4AF55673-DEE9-446C-AA6B-8AE0EE4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928616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head</a:t>
            </a:r>
            <a:endParaRPr sz="11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880E6E00-61E3-46C4-BC26-0DCABAB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166360"/>
            <a:ext cx="269748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LayerNorm  ·  Dropout  ·  Linear(2H → 2)</a:t>
            </a:r>
            <a:endParaRPr sz="9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872C476-3665-419E-B37E-0FE08B4C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5440680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D54E459-FE35-4F3C-8EAC-FDD746D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86984"/>
            <a:ext cx="269748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9A8D4507-7FCA-4429-9D76-585671F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86984"/>
            <a:ext cx="2697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11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5314167-DE86-4940-9DE5-8FC5A6DC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6318504"/>
            <a:ext cx="7050024" cy="1641199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6350">
            <a:solidFill>
              <a:srgbClr val="C8D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F44713D1-5599-4C6F-8097-999EC17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09944"/>
            <a:ext cx="6766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b  Integrated Gradients attribution  (backward through network)</a:t>
            </a:r>
            <a:endParaRPr sz="11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98BA13A-B03D-4F91-930D-510954A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6062472"/>
            <a:ext cx="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8B25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1CAF340-DF05-4F16-9F17-60D9B9E0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6117336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8B2500"/>
                </a:solidFill>
                <a:latin typeface="Arial"/>
                <a:ea typeface="Arial"/>
                <a:cs typeface="Arial"/>
              </a:rPr>
              <a:t>IG target = P(Pass)</a:t>
            </a:r>
            <a:endParaRPr sz="8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9F8C8A8-1739-41BD-A2D1-55A93B49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2552"/>
            <a:ext cx="2491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A369CFA6-4D9D-4E9D-BA8D-A47A34A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6702552"/>
            <a:ext cx="25694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B5E5E097-B588-414D-9632-E6FA120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6739127"/>
            <a:ext cx="2697480" cy="62179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B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8C05F53-59C7-4148-97C0-8D9ADDBA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6757416"/>
            <a:ext cx="249174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IGᵢ(x) = (xᵢ − x̄ᵢ) ×  ∫₀¹ ∂F(x̄+α(x−x̄))/∂xᵢ  dα</a:t>
            </a:r>
            <a:endParaRPr sz="90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AFADF0A3-AEE4-4271-BD46-CF17EEB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7086600"/>
            <a:ext cx="2514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uniform AA reference  ·  F = P(Pass)  ·  200 steps  ·  target = class 1</a:t>
            </a:r>
            <a:endParaRPr sz="85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F36CD83C-1B3B-41D8-AD84-4BEB491C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0356"/>
            <a:ext cx="0" cy="2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70ADA59-2927-496B-8411-838B369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" y="673912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∂F/∂x₁</a:t>
            </a:r>
            <a:endParaRPr sz="850"/>
          </a:p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(branch 1)</a:t>
            </a:r>
            <a:endParaRPr sz="85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6190FF11-0AC9-4732-97C7-F4D62F11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44652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380FBB96-E24E-42B8-ACFC-8DE92A2B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700356"/>
            <a:ext cx="0" cy="2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280A50EC-D8DA-48DB-A340-DC445AB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6700357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∂F/∂x₂</a:t>
            </a:r>
            <a:endParaRPr sz="850"/>
          </a:p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(branch 2)</a:t>
            </a:r>
            <a:endParaRPr sz="85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95AFA320-295F-40C5-A54F-36532AC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44652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7E98CFB-EADC-4FF0-81C3-F8338E5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2552"/>
            <a:ext cx="0" cy="71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60B79BF-BE8D-4AA4-BF87-8A7A59BC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702552"/>
            <a:ext cx="0" cy="71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8642AA5-028E-4C19-BE50-EF5BE7E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415784"/>
            <a:ext cx="221284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1270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8CD11402-E536-4FBB-B9FB-00059AB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415784"/>
            <a:ext cx="22128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VH+VL attribution vector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270 positions  ·  sum over AA dim</a:t>
            </a:r>
            <a:endParaRPr sz="95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BD5D0F9-8CA7-46BF-8BA0-5861DA2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7415784"/>
            <a:ext cx="2185416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1270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7C0796CB-9832-45A6-BD05-B2DED0EB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7415784"/>
            <a:ext cx="21854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HCDR3 attribution vector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positions</a:t>
            </a: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  ·  sum over AA dim</a:t>
            </a:r>
            <a:endParaRPr sz="950"/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7E8EF479-C136-4504-A569-9C9E51F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8219296"/>
            <a:ext cx="7050024" cy="1408176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FF8"/>
          </a:solidFill>
          <a:ln xmlns:a="http://schemas.openxmlformats.org/drawingml/2006/main" w="6350">
            <a:solidFill>
              <a:srgbClr val="B0DD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9033E97E-BCA7-471A-B95C-192D29D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255872"/>
            <a:ext cx="6766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c  Outputs</a:t>
            </a:r>
            <a:endParaRPr sz="110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944A233D-6A37-482B-A263-831B63A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7959703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B25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C3A00A61-437F-4761-A655-11D9724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959702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8C1B4171-21F3-4CCB-BB27-43C9435B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95644" y="7959703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4E64A2B6-1999-4DF8-8C20-91CEF5A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548480"/>
            <a:ext cx="230428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889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E598980E-8EBB-4C4D-B5AF-50F1F36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548480"/>
            <a:ext cx="23042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Population-level IG profiles</a:t>
            </a:r>
            <a:endParaRPr sz="1100"/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63D3C71C-66AE-4A24-84B3-9CB5A073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857" y="8567926"/>
            <a:ext cx="1861458" cy="33576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8890">
            <a:solidFill>
              <a:srgbClr val="8B2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1EBAA903-F576-475F-A435-3BFD9A7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54848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/ P(Fail)</a:t>
            </a:r>
            <a:endParaRPr sz="1100"/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02ED5BC-3E38-48ED-BEAB-F2A38A1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8548480"/>
            <a:ext cx="2185416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0FFF5"/>
          </a:solidFill>
          <a:ln xmlns:a="http://schemas.openxmlformats.org/drawingml/2006/main" w="889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B1F469FC-67C9-4348-847D-5434D5B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8548480"/>
            <a:ext cx="21854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Per-antibody outputs</a:t>
            </a:r>
            <a:endParaRPr sz="1100"/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AC5979A3-E8F9-4A66-9F62-832E07F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060544"/>
            <a:ext cx="23042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Bar chart: top 60 positions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(VH+VL: purple  ·  HCDR3: teal)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 residue heatmap (1×25)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TIFF  ·  auto-generated</a:t>
            </a:r>
            <a:endParaRPr sz="900"/>
          </a:p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CE89B2E0-8104-481D-AE7F-59FB4929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060544"/>
            <a:ext cx="2880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Configured decision threshold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0.5 in reported analyses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Scores CSV exported</a:t>
            </a:r>
            <a:endParaRPr sz="900"/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1FAA9C24-D658-4A68-9D0F-5E84D3C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9060544"/>
            <a:ext cx="21854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plots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(300 DPI TIFF)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IG attribution per residue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 heatmap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selected scored antibodies</a:t>
            </a:r>
            <a:endParaRPr sz="900"/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E7D80EBA-87CD-4E6B-85A7-DE5FA77C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3" y="9709768"/>
            <a:ext cx="7050024" cy="431963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635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A646BF3D-4400-41B3-97ED-D95E0B9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9709768"/>
            <a:ext cx="6793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Reported checkpoints: 4 layers · hidden_dim 128 · 8 heads · FFN 512 · dropout 0.38  ·  IG: uniform AA reference · 200 steps  ·  all parameters configurable in YAML</a:t>
            </a:r>
            <a:endParaRPr sz="900"/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5AA87AC5-80F0-4AD8-AE46-2A6431F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16" y="10465158"/>
            <a:ext cx="2258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888888"/>
                </a:solidFill>
                <a:latin typeface="Arial"/>
                <a:ea typeface="Arial"/>
                <a:cs typeface="Arial"/>
              </a:rPr>
              <a:t>Legend on next page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10816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DD59F1-53CF-4758-8A73-BAD7D50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2336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085802-1508-4745-823A-484A39C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"/>
            <a:ext cx="7013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4  |  Legend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260E5D-C058-405A-98B6-3AA7A84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3776"/>
            <a:ext cx="7013448" cy="9966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Forward pass.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Branch 1 encodes the concatenated VH + VL sequence as a one-hot position × amino acid matrix (270 × 20 = 5,400 dimensions). Branch 2 independently encodes HCDR3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25 × 20 = 500 dimensions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). Both branches apply sinusoidal positional encoding and independent Pre-LN Transformer encoder stacks, then mean-pool to x_pooled and cdr3_pooled respectively. CDR3-guided cross-attention integrates the branches: cdr3_pooled provides the query (Q) and the full VH+VL sequence provides keys and values (K, V). An x_pooled bypass (dotted line) feeds x_pooled directly to the concatenation step in parallel with the cross-attention output. The concatenated (2H)-dimensional vector feeds a classification head (LayerNorm → Dropout → Linear(2H → 2)) producing P(Pass) and P(Fail) via softmax.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Integrated Gradients attribution.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Integrated Gradients (IG) computes the path integral of gradients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from a padding-safe, length-matched uniform amino-acid reference to the actual input along a straight line, approximated with 200 integration steps; attribution target = class 1 (P(Pass)). The reference assigns 1/20 to every amino-acid channel at observed positions and zero only at true padding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. The coral arrow entering section b at the centre denotes P(Pass) as the IG attribution target. Gradients branch left (∂F/∂x₁, purple) to Branch 1 and right (∂F/∂x₂, teal) to Branch 2, propagating backward (upward arrows) through their respective encoder stacks. Summing attributions over the amino acid dimension yields a VH+VL position importance vector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270 raw sequence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, purple box) and an HCDR3 position importance vector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25 raw sequence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, teal box).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Outputs.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Classification: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P(Pass) scores thresholded at the configured decision threshold (0.5 in the reported analyses)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. Population-level IG profiles (fed by VH+VL attribution vector): ranked bar chart of the top 60 positions with VH+VL positions coloured purple and HCDR3 positions teal, and a 1 × CDR3_length HCDR3 residue importance heatmap accumulated as mean absolute IG attributions across all antibodies. Per-antibody outputs (fed by HCDR3 attribution vector): individual IG waterfall plots and CDR3 in silico mutagenesis heatmaps assembled into PowerPoint files (300 DPI TIFF).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These outputs are generated by the dedicated delphi_interpretability.py workflow; exact internal and public reproduction commands are documented in paper/documentation/IG_REPRODUCTION.md.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*The reported PSR and SEC checkpoints use four layers, hidden_dim 128, eight attention heads, FFN 512, dropout 0.38, and a maximum HCDR3 length of 25. Parameters remain configurable through YAML.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SGKF, stratified group k-fold; PE, positional encoding; Pre-LN, pre-layer normalisation; IG, Integrated Gradients; PPT, PowerPoint.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96496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0E397C-3665-4AEF-B267-EC71C6A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4973FF-C6F3-4B89-8CBD-A939B35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Table 1  |  MLAbDev architecture comparison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2F877F-FE9A-4197-9940-DD4DA22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All models share a consistent public python API  ·  YAML-configurable  ·  auto_scale from data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E250E2E-F34E-4F53-8BC3-DCB4617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9436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BD723C-DF4E-486F-93E6-B98F8099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943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F3C5B0-1CD5-47DE-AC4C-3793D9E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9436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105FCD-B16B-4C96-8A0F-0A77E1A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943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encoding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38A308A-36B8-486C-9FE9-58B9FF3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4360"/>
            <a:ext cx="1645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28668B-6D6C-433A-866A-7541B8D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43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mechanism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1C53A75-B5BC-4875-B26B-380E83F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94360"/>
            <a:ext cx="1645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F706F70-0C48-491A-8032-D3DF5DA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943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Interpretability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C3B12B-C417-41E6-A56F-0CC9DFB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9436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B46EBC-1FE8-4523-8466-2E0E2EEB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9436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7DB4E2F-DF2C-47E4-ADDC-F6E4E36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B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C3B7E0-D561-4910-A400-DD1756A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996696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TransformerLM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B480C6-6D20-4D4E-8F76-EB5C2AF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960120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2CAC61-2F61-4C03-AF5E-D0C596A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996696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PLM embedding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480–1,024-dim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5F85FF-0B0A-471F-A063-75E69EA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60120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27CF883-FD1E-48AE-A0AD-A5AD958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996696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2-token Pre-LN Transformer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hidden=128  batch=32  lr=1e-5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auto: dropout, epochs</a:t>
            </a:r>
            <a:endParaRPr sz="8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2BD1E63-1CE3-4E6D-9505-E2ECD6B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60120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4BFFA8-D728-4AB2-8260-9616FDC3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996696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 state CSV export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5022DC2-2DC1-4960-9F93-FFAD6A8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960120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F097AC-292C-4D73-B1F8-40B8F8C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996696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808A4EF-BC9C-4F26-B88C-35C2D65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64792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3EE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19E9CFA-A229-417E-B1D6-F1B5FBB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801368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CNN</a:t>
            </a:r>
            <a:endParaRPr sz="9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3B0DB48-E207-4144-AE32-820EDFC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64792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50695E-201B-46B3-AD49-15F34C82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1801368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PLM embedding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480–1,024-dim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99B7448-9D15-43BC-ACD0-0E31322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64792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B56E31E-F99F-4C3A-8079-C79F5F4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1801368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Dilated residual blocks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BatchNorm · AdaptiveMaxPool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kernel_size=5</a:t>
            </a:r>
            <a:endParaRPr sz="8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78498A1-1B26-4D7E-9124-CC20F9C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64792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DB60E7D-3329-4AB3-A8A6-907404C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801368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 state CSV export</a:t>
            </a:r>
            <a:endParaRPr sz="8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C1D3E9B-3D91-4AD5-92A7-1BD0CE84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2CAF926-4997-4318-804A-150BFA9B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801368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D75B21B-1770-461F-B584-8A770B81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69464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D7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50A48F0-91CB-44E3-8BA0-20B21194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606040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5200"/>
                </a:solidFill>
                <a:latin typeface="Arial"/>
                <a:ea typeface="Arial"/>
                <a:cs typeface="Arial"/>
              </a:rPr>
              <a:t>TransformerOneHot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1D21877-9F50-4A87-8B40-870886D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569464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2622D97-3FEF-4BDC-BD17-6213232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2606040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VH+VL + HCDR3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 (no PLM)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5,400 + 600 dims</a:t>
            </a:r>
            <a:endParaRPr sz="8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D6E334C-34A1-4832-AA77-60B9011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69464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2E858EB-A378-4AD5-ADED-F5A0CEF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606040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CDR3-guided cross-attention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dual-branch Pre-LN Transformer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auto: N, hidden, dropout</a:t>
            </a:r>
            <a:endParaRPr sz="8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21A1086-16D6-45F9-9CDD-5CDB05F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69464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3CCB201-86C4-47C6-A97D-D5604A2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606040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Integrated Gradients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position-resolved (270+30)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3203DC1-2A73-49C9-A014-C939582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B9FFB05-757D-4895-85CC-BC4A0F4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606040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1A11E79-2351-428F-AC73-02A1D79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74136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6E117F8-BB28-47D4-A951-222EE852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410712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Random Forest</a:t>
            </a:r>
            <a:endParaRPr sz="9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FA40223-74D7-46D1-9463-E2FBBA2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74136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939F4E98-62E5-4A22-83B0-0286A1B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3410712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k-mer · biophysical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· PLM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auto-detected</a:t>
            </a:r>
            <a:endParaRPr sz="8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A848E8F-558F-4C48-B940-AA75B5D2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74136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DB954F2-F2A8-4BD5-BBC8-D05C70E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3410712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1,000 trees · OOB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FeatureBuilder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HCDR3-stratified SGKF</a:t>
            </a:r>
            <a:endParaRPr sz="85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0F3539A0-C582-4E74-AEEF-A5EA562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74136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311FFDC-34C0-4974-8D5F-4871DB0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410712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SHAP TreeExplainer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PPT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F5D61BF8-82B6-4859-871C-D172618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74136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6FCC4869-951F-4C76-B38B-13EE095E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Yes</a:t>
            </a:r>
            <a:endParaRPr sz="8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999A45AC-61C6-4349-9DE9-1F8EE09E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178808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5F3DD826-CB54-46C3-B94D-9FA484F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4215384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XGBoost</a:t>
            </a:r>
            <a:endParaRPr sz="90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7423CE0-9CE6-43EC-90F1-EB9E4A8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178808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29BA609-3573-4952-8D09-BD349C4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4215384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k-mer · biophysical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· PLM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auto-detected</a:t>
            </a:r>
            <a:endParaRPr sz="8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1FCC874-FE91-4BD4-BEEA-59A98D3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8808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4BA80B4B-60B7-4B62-8C19-22981B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4215384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Gradient boosting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 classification / regression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HCDR3-stratified SGKF</a:t>
            </a:r>
            <a:endParaRPr sz="85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07FB648-8C75-4CAE-ABF2-555ABA2C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78808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E047240F-BF72-4157-A5F3-DEE35AF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215384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SHAP TreeExplainer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PPT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1A0E3156-4BC5-4269-98CB-FF32B008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78808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76D0B246-F5C1-43EC-901C-55E0D7B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15384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Yes</a:t>
            </a:r>
            <a:endParaRPr sz="85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F9DD271-8217-41F2-ABB7-9C63971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129784"/>
            <a:ext cx="7013448" cy="841248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D3DC760-774D-4046-A2D4-FCF32F1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84648"/>
            <a:ext cx="68305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All architectures: YAML-configurable without code modification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auto_scale_config() / auto_detect_config(): hidden_dim, dropout, batch, epochs, lr  from  n_samples × embedding_dim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Priority: YAML override  &gt;  auto_scale  &gt;  built-in defaults  |  YAML values applied as hard ceilings over auto-scaled values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Configurable: loss (ce/weighted_ce/focal/label_smooth)  ·  threshold (Youden/F2/cost matrix)  ·  SHAP top_n  ·  mutagenesis N  ·  DPI  ·  PPT toggle</a:t>
            </a:r>
            <a:endParaRPr sz="80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C2E7A457-33F4-4A27-9E3B-D5FD450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099048"/>
            <a:ext cx="701344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6D975C5-2A0E-4E55-8D5D-60AD841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153912"/>
            <a:ext cx="6793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public API: </a:t>
            </a: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train()  ·  kfold_validation()  ·  predict_proba()  ·  predict()  ·  save()  ·  load()
HCDR3-stratified group cross-validation  ·  Youden threshold embedded in checkpoint  ·  hidden-state CSV export  ·  PowerPoint interpretability output (300 DPI TIFF)</a:t>
            </a:r>
            <a:endParaRPr sz="90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FD8B6B5-6AB3-4F8F-9C85-81824380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976872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A29600B-7DE0-4A22-A22F-8F5F3CE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086600"/>
            <a:ext cx="7013448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Comparison of the four ML architectures implemented in MLAbDev. All architectures share a consistent public API and are configurable via YAML without code modification. auto_scale_config() (neural architectures) and auto_detect_config() (tree architectures) scale hyperparameters from dataset size (n_norm axis) and data density (d_norm = samples per embedding dimension axis). YAML values are applied as hard ceilings over auto-scaled defaults. Random Forest and XGBoost additionally support regression mode for continuous biophysical targets (e.g. PSR normalised score, SEC monomer percentage); task is detected automatically from the label distribution. HCDR3-stratified group cross-validation (Levenshtein 80% identity clusters) is used throughout to prevent sequence leakage. SGKF, stratified group k-fold; PLM, protein language model; SHAP, SHapley Additive exPlanations; IG, Integrated Gradients; PPT, PowerPoint; DPI, dots per inch.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145843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2026-08-24T18:57:15.3190000Z</dcterms:created>
  <dcterms:modified xsi:type="dcterms:W3CDTF">2026-08-24T18:57:15.3190000Z</dcterms:modified>
</coreProperties>
</file>