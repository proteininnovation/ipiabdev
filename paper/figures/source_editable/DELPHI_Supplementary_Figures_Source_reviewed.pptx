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fa64c8e31aa4910" /><Relationship Type="http://schemas.openxmlformats.org/officeDocument/2006/relationships/extended-properties" Target="/docProps/app.xml" Id="Rea57fc8ca64445fc" /><Relationship Type="http://schemas.openxmlformats.org/officeDocument/2006/relationships/officeDocument" Target="/ppt/presentation.xml" Id="R238058e1515646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8a4b0559fc4a0c"/>
  </p:sldMasterIdLst>
  <p:notesMasterIdLst>
    <p:notesMasterId xmlns:r="http://schemas.openxmlformats.org/officeDocument/2006/relationships" r:id="R7bebaa186098447a"/>
  </p:notesMasterIdLst>
  <p:sldIdLst>
    <p:sldId xmlns:r="http://schemas.openxmlformats.org/officeDocument/2006/relationships" id="256" r:id="R85483dd114d44a06"/>
    <p:sldId xmlns:r="http://schemas.openxmlformats.org/officeDocument/2006/relationships" id="257" r:id="Rcd73adeef70d4d5d"/>
    <p:sldId xmlns:r="http://schemas.openxmlformats.org/officeDocument/2006/relationships" id="258" r:id="R491873ccc47e4d85"/>
    <p:sldId xmlns:r="http://schemas.openxmlformats.org/officeDocument/2006/relationships" id="259" r:id="Rf30dfb9f66f14390"/>
    <p:sldId xmlns:r="http://schemas.openxmlformats.org/officeDocument/2006/relationships" id="260" r:id="Rf450ac0779724d53"/>
    <p:sldId xmlns:r="http://schemas.openxmlformats.org/officeDocument/2006/relationships" id="261" r:id="Rcd1e33ad291b4d06"/>
  </p:sldIdLst>
  <p:sldSz cx="7562850" cy="10688638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712d50d11c4de0" /><Relationship Type="http://schemas.openxmlformats.org/officeDocument/2006/relationships/slideMaster" Target="/ppt/slideMasters/slideMaster1.xml" Id="Rf78a4b0559fc4a0c" /><Relationship Type="http://schemas.openxmlformats.org/officeDocument/2006/relationships/notesMaster" Target="/ppt/notesMasters/notesMaster1.xml" Id="R7bebaa186098447a" /><Relationship Type="http://schemas.openxmlformats.org/officeDocument/2006/relationships/presProps" Target="/ppt/presProps.xml" Id="Rfaf72aa40e914d90" /><Relationship Type="http://schemas.openxmlformats.org/officeDocument/2006/relationships/viewProps" Target="/ppt/viewProps.xml" Id="R3fcb0328bdb4419e" /><Relationship Type="http://schemas.openxmlformats.org/officeDocument/2006/relationships/tableStyles" Target="/ppt/tableStyles.xml" Id="R2f7e3f517ea24d79" /><Relationship Type="http://schemas.openxmlformats.org/officeDocument/2006/relationships/slide" Target="/ppt/slides/slide1.xml" Id="R85483dd114d44a06" /><Relationship Type="http://schemas.openxmlformats.org/officeDocument/2006/relationships/slide" Target="/ppt/slides/slide2.xml" Id="Rcd73adeef70d4d5d" /><Relationship Type="http://schemas.openxmlformats.org/officeDocument/2006/relationships/slide" Target="/ppt/slides/slide3.xml" Id="R491873ccc47e4d85" /><Relationship Type="http://schemas.openxmlformats.org/officeDocument/2006/relationships/slide" Target="/ppt/slides/slide4.xml" Id="Rf30dfb9f66f14390" /><Relationship Type="http://schemas.openxmlformats.org/officeDocument/2006/relationships/slide" Target="/ppt/slides/slide5.xml" Id="Rf450ac0779724d53" /><Relationship Type="http://schemas.openxmlformats.org/officeDocument/2006/relationships/slide" Target="/ppt/slides/slide6.xml" Id="Rcd1e33ad291b4d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20ed50c6ad46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1956f4a7294600" /><Relationship Type="http://schemas.openxmlformats.org/officeDocument/2006/relationships/notesMaster" Target="/ppt/notesMasters/notesMaster1.xml" Id="Rd4e4dae18a404a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11a2afd5de413a" /><Relationship Type="http://schemas.openxmlformats.org/officeDocument/2006/relationships/notesMaster" Target="/ppt/notesMasters/notesMaster1.xml" Id="Rd7bf38901cd54e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af0f3975634197" /><Relationship Type="http://schemas.openxmlformats.org/officeDocument/2006/relationships/notesMaster" Target="/ppt/notesMasters/notesMaster1.xml" Id="R0fa2785cdb6448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efd563ad5254680" /><Relationship Type="http://schemas.openxmlformats.org/officeDocument/2006/relationships/notesMaster" Target="/ppt/notesMasters/notesMaster1.xml" Id="R193b1c5767c643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d9bcc6a5d74e90" /><Relationship Type="http://schemas.openxmlformats.org/officeDocument/2006/relationships/notesMaster" Target="/ppt/notesMasters/notesMaster1.xml" Id="R5df77ecd6a50438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352987376f46a4" /><Relationship Type="http://schemas.openxmlformats.org/officeDocument/2006/relationships/notesMaster" Target="/ppt/notesMasters/notesMaster1.xml" Id="Rb265a5eb009845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7875078f4c4730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67c8ecb813a453e" /><Relationship Type="http://schemas.openxmlformats.org/officeDocument/2006/relationships/slideLayout" Target="/ppt/slideLayouts/slideLayout1.xml" Id="R1c9fd1d616d24d5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c9fd1d616d24d52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1b47ac40314e12" /><Relationship Type="http://schemas.openxmlformats.org/officeDocument/2006/relationships/image" Target="/ppt/media/image.png" Id="Rd4174a93d02444cc" /><Relationship Type="http://schemas.openxmlformats.org/officeDocument/2006/relationships/image" Target="/ppt/media/image2.png" Id="R6ce62512f1c74da5" /><Relationship Type="http://schemas.openxmlformats.org/officeDocument/2006/relationships/image" Target="/ppt/media/image3.png" Id="Rd8ebdbc5956448dc" /><Relationship Type="http://schemas.openxmlformats.org/officeDocument/2006/relationships/image" Target="/ppt/media/image4.png" Id="R3f2d41bd2e324998" /><Relationship Type="http://schemas.openxmlformats.org/officeDocument/2006/relationships/notesSlide" Target="/ppt/notesSlides/notesSlide1.xml" Id="R80b8879fa76a47a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6c43ad4964e7a" /><Relationship Type="http://schemas.openxmlformats.org/officeDocument/2006/relationships/notesSlide" Target="/ppt/notesSlides/notesSlide2.xml" Id="R4a2f41fb369f4b5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aca2e4237c4904" /><Relationship Type="http://schemas.openxmlformats.org/officeDocument/2006/relationships/notesSlide" Target="/ppt/notesSlides/notesSlide3.xml" Id="Rdca89480a35043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983e0df47942e7" /><Relationship Type="http://schemas.openxmlformats.org/officeDocument/2006/relationships/notesSlide" Target="/ppt/notesSlides/notesSlide4.xml" Id="Rd220883ff663445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8fd539169c4f37" /><Relationship Type="http://schemas.openxmlformats.org/officeDocument/2006/relationships/notesSlide" Target="/ppt/notesSlides/notesSlide5.xml" Id="R8b71af6d1cec4a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a8acbade0b467b" /><Relationship Type="http://schemas.openxmlformats.org/officeDocument/2006/relationships/notesSlide" Target="/ppt/notesSlides/notesSlide6.xml" Id="Rf3bd9a4e5e444ae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F84466F-A2B5-4E96-D8E8-85FB12BF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3933" y="3984304"/>
            <a:ext cx="3714622" cy="21544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latin typeface="Arial"/>
                <a:ea typeface="Arial"/>
                <a:cs typeface="Arial"/>
              </a:rPr>
              <a:t>       c. IPI PSR-ELISA data after filtering</a:t>
            </a:r>
          </a:p>
        </p:txBody>
      </p:sp>
      <p:pic>
        <p:nvPicPr>
          <p:cNvPr id="20" name="Content Placeholder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74a93d02444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6948" y="1460834"/>
            <a:ext cx="2756359" cy="1982283"/>
          </a:xfrm>
          <a:prstGeom xmlns:a="http://schemas.openxmlformats.org/drawingml/2006/main" prst="rect">
            <a:avLst/>
          </a:prstGeom>
        </p:spPr>
      </p:pic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E578410-AE74-A7D0-99C5-EBF2F389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63" y="1284718"/>
            <a:ext cx="3013455" cy="21544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800" b="1">
                <a:latin typeface="Arial"/>
                <a:ea typeface="Arial"/>
                <a:cs typeface="Arial"/>
              </a:rPr>
              <a:t>a. SVM decision boundary</a:t>
            </a:r>
          </a:p>
        </p:txBody>
      </p:sp>
      <p:pic>
        <p:nvPicPr>
          <p:cNvPr id="22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e62512f1c74da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3955228" y="1557695"/>
            <a:ext cx="2574513" cy="2071944"/>
          </a:xfrm>
          <a:prstGeom xmlns:a="http://schemas.openxmlformats.org/drawingml/2006/main" prst="rect">
            <a:avLst/>
          </a:prstGeom>
        </p:spPr>
      </p:pic>
      <p:pic>
        <p:nvPicPr>
          <p:cNvPr id="23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bdbc5956448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933042" y="1590355"/>
            <a:ext cx="693288" cy="475907"/>
          </a:xfrm>
          <a:prstGeom xmlns:a="http://schemas.openxmlformats.org/drawingml/2006/main" prst="rect">
            <a:avLst/>
          </a:prstGeom>
        </p:spPr>
      </p:pic>
      <p:pic>
        <p:nvPicPr>
          <p:cNvPr id="24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2d41bd2e32499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2304800" y="4245977"/>
            <a:ext cx="2937684" cy="2183211"/>
          </a:xfrm>
          <a:prstGeom xmlns:a="http://schemas.openxmlformats.org/drawingml/2006/main" prst="rect">
            <a:avLst/>
          </a:prstGeom>
        </p:spPr>
      </p:pic>
      <p:pic>
        <p:nvPicPr>
          <p:cNvPr id="25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ebdbc5956448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4553949" y="4245976"/>
            <a:ext cx="671003" cy="516109"/>
          </a:xfrm>
          <a:prstGeom xmlns:a="http://schemas.openxmlformats.org/drawingml/2006/main" prst="rect">
            <a:avLst/>
          </a:prstGeom>
        </p:spPr>
      </p:pic>
      <p:sp>
        <p:nvSpPr>
          <p:cNvPr id="11" name="Down Arrow 10">
            <a:extLst xmlns:a="http://schemas.openxmlformats.org/drawingml/2006/main">
              <a:ext uri="{FF2B5EF4-FFF2-40B4-BE49-F238E27FC236}">
                <a16:creationId xmlns:a16="http://schemas.microsoft.com/office/drawing/2014/main" id="{8C25D792-98C9-ECD2-7711-B677680B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210" y="3541712"/>
            <a:ext cx="820244" cy="442592"/>
          </a:xfrm>
          <a:prstGeom xmlns:a="http://schemas.openxmlformats.org/drawingml/2006/main" prst="downArrow">
            <a:avLst/>
          </a:prstGeom>
          <a:solidFill xmlns:a="http://schemas.openxmlformats.org/drawingml/2006/main">
            <a:schemeClr val="tx2">
              <a:lumMod val="10000"/>
              <a:lumOff val="90000"/>
            </a:schemeClr>
          </a:solidFill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itle 1">
            <a:extLst xmlns:a="http://schemas.openxmlformats.org/drawingml/2006/main">
              <a:ext uri="{FF2B5EF4-FFF2-40B4-BE49-F238E27FC236}">
                <a16:creationId xmlns:a16="http://schemas.microsoft.com/office/drawing/2014/main" id="{288FDA08-D645-7E11-0BF4-3B111B530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8100"/>
            <a:ext cx="8610600" cy="3810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lvl1pPr algn="ctr" defTabSz="914400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l">
              <a:defRPr sz="1200">
                <a:solidFill>
                  <a:srgbClr val="000000"/>
                </a:solidFill>
              </a:defRPr>
            </a:pPr>
            <a:r>
              <a:rPr sz="1200" b="1">
                <a:solidFill>
                  <a:srgbClr val="000000"/>
                </a:solidFill>
              </a:rPr>
              <a:t>Supplementary Fig. 1 | PSR-ELISA label quality control</a:t>
            </a:r>
            <a:endParaRPr/>
          </a:p>
        </p:txBody>
      </p:sp>
      <p:sp>
        <p:nvSpPr>
          <p:cNvPr id="18" name="Panel b label">
            <a:extLst xmlns:a="http://schemas.openxmlformats.org/drawingml/2006/main">
              <a:ext uri="{FF2B5EF4-FFF2-40B4-BE49-F238E27FC236}">
                <a16:creationId xmlns:a16="http://schemas.microsoft.com/office/drawing/2014/main" id="{FAC3FE3B-DD5E-4E7C-8A3B-031FBA82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2573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00">
                <a:solidFill>
                  <a:srgbClr val="000000"/>
                </a:solidFill>
              </a:defRPr>
            </a:pPr>
            <a:r>
              <a:rPr sz="800">
                <a:solidFill>
                  <a:srgbClr val="000000"/>
                </a:solidFill>
              </a:rPr>
              <a:t>b. IPI PSR-ELISA data before filtering</a:t>
            </a:r>
          </a:p>
        </p:txBody>
      </p:sp>
    </p:spTree>
    <p:extLst>
      <p:ext uri="{BB962C8B-B14F-4D97-AF65-F5344CB8AC3E}">
        <p14:creationId xmlns:p14="http://schemas.microsoft.com/office/powerpoint/2010/main" val="5074529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C90DB9E-2170-4CC7-88DE-605FAF39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0040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CBFA4B0-A874-4A73-B39E-51555646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4864"/>
            <a:ext cx="7013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Supplementary Fig. 2  |  TransformerLM architecture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142ED1F2-84E9-46ED-971E-57191528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38328"/>
            <a:ext cx="7013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Fixed-length PLM embedding → 2-token Pre-LN Transformer → P(Pass)</a:t>
            </a:r>
            <a:endParaRPr sz="8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A78ECC8-6AAF-4D66-B096-AB3E971D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40080"/>
            <a:ext cx="2834640" cy="475488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EEDFB"/>
          </a:solidFill>
          <a:ln xmlns:a="http://schemas.openxmlformats.org/drawingml/2006/main" w="6350">
            <a:solidFill>
              <a:srgbClr val="EEED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3994314-4B09-4A09-9D65-B3FB93A6B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76656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PLM embedding</a:t>
            </a:r>
            <a:endParaRPr sz="9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7BFFAEE6-BF62-48D7-867D-8C7ADFDE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77824"/>
            <a:ext cx="2834640" cy="2187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C4BAD"/>
                </a:solidFill>
                <a:latin typeface="Arial"/>
                <a:ea typeface="Arial"/>
                <a:cs typeface="Arial"/>
              </a:rPr>
              <a:t>e.g. AntiBERTa2-CSSP  (1,024-dim)</a:t>
            </a:r>
            <a:endParaRPr sz="8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3506BA42-41E0-4671-B8FD-95BD0EE1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115568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A04DBF0-D432-490A-AD45-5FFAC85B8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298448"/>
            <a:ext cx="2834640" cy="512064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5C4BAD"/>
          </a:solidFill>
          <a:ln xmlns:a="http://schemas.openxmlformats.org/drawingml/2006/main" w="6350">
            <a:solidFill>
              <a:srgbClr val="5C4B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B6346EDB-52AD-4CE4-935A-CC18184F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335024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projection</a:t>
            </a:r>
            <a:endParaRPr sz="9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553BC21-DABC-4458-B0FA-69F35718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554480"/>
            <a:ext cx="283464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D6D0F5"/>
                </a:solidFill>
                <a:latin typeface="Arial"/>
                <a:ea typeface="Arial"/>
                <a:cs typeface="Arial"/>
              </a:rPr>
              <a:t>Linear(emb_dim → 128)  ·  LayerNorm  ·  Dropout</a:t>
            </a:r>
            <a:endParaRPr sz="8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6551DB85-9EA1-4D38-AFDA-FAEE932B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810512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0BAA350-B021-4373-A08C-1764ABFE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993392"/>
            <a:ext cx="2834640" cy="475488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EEDFB"/>
          </a:solidFill>
          <a:ln xmlns:a="http://schemas.openxmlformats.org/drawingml/2006/main" w="6350">
            <a:solidFill>
              <a:srgbClr val="EEED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A58F4997-63E4-499F-A393-87CBBBAF0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029968"/>
            <a:ext cx="28346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2-token sequence  [CLS, embed]</a:t>
            </a:r>
            <a:endParaRPr sz="9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703A34E-631A-4E7F-AB38-862A60C5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231136"/>
            <a:ext cx="2834640" cy="2187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C4BAD"/>
                </a:solidFill>
                <a:latin typeface="Arial"/>
                <a:ea typeface="Arial"/>
                <a:cs typeface="Arial"/>
              </a:rPr>
              <a:t>CLS: learnable  (init trunc-normal  σ = 0.02)</a:t>
            </a:r>
            <a:endParaRPr sz="8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3F0636D-8617-4089-B52B-64614C482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46888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400844FD-8BB1-4E2A-8288-B2297DC9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651760"/>
            <a:ext cx="2834640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4BAD"/>
          </a:solidFill>
          <a:ln xmlns:a="http://schemas.openxmlformats.org/drawingml/2006/main" w="6350">
            <a:solidFill>
              <a:srgbClr val="5C4B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295254D2-DE25-4971-BE83-D702B370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688336"/>
            <a:ext cx="28346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Transformer encoder  (Pre-LN)</a:t>
            </a:r>
            <a:endParaRPr sz="9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5D2B11B3-66AF-47A1-985F-F4375237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944368"/>
            <a:ext cx="2834640" cy="2691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C0B8EE"/>
                </a:solidFill>
                <a:latin typeface="Arial"/>
                <a:ea typeface="Arial"/>
                <a:cs typeface="Arial"/>
              </a:rPr>
              <a:t>2 layers (n &lt; 50k) or 3 layers (n ≥ 50k)  ·  8 heads  ·  FFN = 512  ·  dropout*</a:t>
            </a:r>
            <a:endParaRPr sz="800"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B4F37F2C-C886-4838-9982-24C55AD4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236976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2E85A2B8-54E6-47D7-92D2-ED6664B3D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419856"/>
            <a:ext cx="283464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EEDFB"/>
          </a:solidFill>
          <a:ln xmlns:a="http://schemas.openxmlformats.org/drawingml/2006/main" w="6350">
            <a:solidFill>
              <a:srgbClr val="EEED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4DEFE3D-C6F0-4C43-B72D-C24C5AA8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419856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CLS token  →  h  (128-dim)</a:t>
            </a:r>
            <a:endParaRPr sz="9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04BB21AC-6C72-41F9-9B99-31F47195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840480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B80D3A1E-4762-482F-B31D-00B56CC3B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023360"/>
            <a:ext cx="2834640" cy="512064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1C2B5A"/>
          </a:solidFill>
          <a:ln xmlns:a="http://schemas.openxmlformats.org/drawingml/2006/main" w="635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EEF7B49-42A4-404E-9081-7581B82E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059936"/>
            <a:ext cx="2834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Classification head</a:t>
            </a:r>
            <a:endParaRPr sz="9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A1ADB4E-8D5A-47A2-A851-AD288CE2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279392"/>
            <a:ext cx="283464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LayerNorm  ·  Dropout  ·  Linear(128 → 2)</a:t>
            </a:r>
            <a:endParaRPr sz="8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497F2189-4F6D-4CBB-857A-EF151A3D9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535424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C2B5A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46F5F248-632B-4436-A3E1-FEEBA1C4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718304"/>
            <a:ext cx="283464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6350">
            <a:solidFill>
              <a:srgbClr val="FDE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6BAA168-E04A-4166-B0F3-7A9D8736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718304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8B2500"/>
                </a:solidFill>
                <a:latin typeface="Arial"/>
                <a:ea typeface="Arial"/>
                <a:cs typeface="Arial"/>
              </a:rPr>
              <a:t>P(Pass)  ·  P(Fail)  —  softmax</a:t>
            </a:r>
            <a:endParaRPr sz="90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5CBEBED8-E5B3-4AA8-B979-718C5099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303520"/>
            <a:ext cx="2834640" cy="1019556"/>
          </a:xfrm>
          <a:prstGeom xmlns:a="http://schemas.openxmlformats.org/drawingml/2006/main" prst="roundRect">
            <a:avLst>
              <a:gd name="adj" fmla="val 538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7620">
            <a:solidFill>
              <a:srgbClr val="2979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D70C2155-381E-43DF-8266-A91787BC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358384"/>
            <a:ext cx="2651760" cy="928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A5276"/>
                </a:solidFill>
                <a:latin typeface="Arial"/>
                <a:ea typeface="Arial"/>
                <a:cs typeface="Arial"/>
              </a:rPr>
              <a:t>⚙  YAML-configurable / auto_scale_config()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dropout*: 0.45 → 0.10  scaled by d_norm = n / emb_dim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epochs: 55 → 15  scaled by n_norm = dataset size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loss: auto-selected  (ce / weighted_ce / focal / label_smooth)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Priority: YAML override &gt; auto_scale &gt; built-in defaults</a:t>
            </a:r>
            <a:endParaRPr sz="800"/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2F306F4-5B51-4963-A6AD-F3B6457E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640080"/>
            <a:ext cx="38130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C2B5A"/>
                </a:solidFill>
                <a:latin typeface="Arial"/>
                <a:ea typeface="Arial"/>
                <a:cs typeface="Arial"/>
              </a:rPr>
              <a:t>Fixed hyperparameters</a:t>
            </a:r>
            <a:endParaRPr sz="1000"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E0A9EFDF-15AE-4628-BEB8-E3CF075C1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923544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hidden_dim</a:t>
            </a:r>
            <a:endParaRPr sz="900"/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98E69FDD-F157-430F-BD4F-34450BA81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923544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128  (always — PLM head, not a re-learner)</a:t>
            </a:r>
            <a:endParaRPr sz="900"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828ABB5A-F2F8-45F1-B2AF-27644EE6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152144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num_heads</a:t>
            </a:r>
            <a:endParaRPr sz="9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96CA04A8-C6B9-43C9-85AD-10876283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152144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8  →  head_dim = 16</a:t>
            </a:r>
            <a:endParaRPr sz="9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3D67E209-FA47-4453-95BC-34055E96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380744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batch_size</a:t>
            </a:r>
            <a:endParaRPr sz="9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9F01CD93-3160-4D40-ADBA-503466435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380744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32  (flat minima, better generalisation)</a:t>
            </a:r>
            <a:endParaRPr sz="9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D764C960-C9F0-45D0-96EC-AC9A490C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09344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lr</a:t>
            </a:r>
            <a:endParaRPr sz="9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2EAAB3F3-EDB6-4DCD-86C2-93C12CD58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609344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1 × 10⁻⁵  (matched to batch = 32)</a:t>
            </a:r>
            <a:endParaRPr sz="9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0A7C2015-4CC5-4E42-9064-F40825729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37944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FFN</a:t>
            </a:r>
            <a:endParaRPr sz="9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56FFE285-7FBA-47BB-97A7-C6D1A377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837944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512  (4 × hidden_dim)</a:t>
            </a:r>
            <a:endParaRPr sz="9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3E3ECBCA-FEC7-4AF0-B85A-F8156FD2D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066544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Pre-LN</a:t>
            </a:r>
            <a:endParaRPr sz="9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3FD3B92A-7115-4A57-8FAB-58315EEAB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066544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norm_first=True  (stable at small batch)</a:t>
            </a:r>
            <a:endParaRPr sz="900"/>
          </a:p>
        </p:txBody>
      </p:sp>
      <p:sp>
        <p:nvSpPr>
          <p:cNvPr id="48" name="Shape 46">
            <a:extLst xmlns:a="http://schemas.openxmlformats.org/drawingml/2006/main">
              <a:ext uri="{FF2B5EF4-FFF2-40B4-BE49-F238E27FC236}">
                <a16:creationId xmlns:a16="http://schemas.microsoft.com/office/drawing/2014/main" id="{17B93019-48F8-4604-B74A-0527E9A2C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40864"/>
            <a:ext cx="38130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6B9B416B-4BAF-4E78-B149-D6C1460F5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496312"/>
            <a:ext cx="38130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C2B5A"/>
                </a:solidFill>
                <a:latin typeface="Arial"/>
                <a:ea typeface="Arial"/>
                <a:cs typeface="Arial"/>
              </a:rPr>
              <a:t>Auto-scaled parameters</a:t>
            </a:r>
            <a:endParaRPr sz="10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D7399F32-EC28-4176-AF53-AB4732D88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770632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dropout*</a:t>
            </a:r>
            <a:endParaRPr sz="90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2F8DF494-99BE-4322-AFCF-B4D8664F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770632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0.45 − 0.30 × d_norm   (d_norm = samples/emb_dim)</a:t>
            </a:r>
            <a:endParaRPr sz="9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F601A09D-C1AC-4192-897D-333D07679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99232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num_layers</a:t>
            </a:r>
            <a:endParaRPr sz="9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848575E5-DAE9-4AA4-8E54-3BCD9828A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999232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2  (n &lt; 50k)   or   3  (n ≥ 50k)</a:t>
            </a:r>
            <a:endParaRPr sz="90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3944827B-9BB3-4762-9C39-CCB26AA9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227832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epochs</a:t>
            </a:r>
            <a:endParaRPr sz="90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056CC4EC-2968-43FC-B084-B59746754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227832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55 → 15   scaled by n_norm</a:t>
            </a:r>
            <a:endParaRPr sz="900"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B30AAFA8-F276-40DF-99C0-DC857B5C7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456432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weight_decay</a:t>
            </a:r>
            <a:endParaRPr sz="900"/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D66C00E8-F10F-43C2-96AB-42704EBA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456432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0.001  (n &lt; 50k)   →   0.0005  (n ≥ 50k)</a:t>
            </a:r>
            <a:endParaRPr sz="90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D199C72E-8A2E-4FF3-AE1C-23068493F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685032"/>
            <a:ext cx="1005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patience</a:t>
            </a:r>
            <a:endParaRPr sz="900"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67975A1F-4E24-4900-85DE-23924238E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3685032"/>
            <a:ext cx="27614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7  (n &lt; 50k)   →   5  (n ≥ 50k)</a:t>
            </a:r>
            <a:endParaRPr sz="900"/>
          </a:p>
        </p:txBody>
      </p:sp>
      <p:sp>
        <p:nvSpPr>
          <p:cNvPr id="61" name="Text 59">
            <a:extLst xmlns:a="http://schemas.openxmlformats.org/drawingml/2006/main">
              <a:ext uri="{FF2B5EF4-FFF2-40B4-BE49-F238E27FC236}">
                <a16:creationId xmlns:a16="http://schemas.microsoft.com/office/drawing/2014/main" id="{F041745C-AC2C-47BA-BF67-FC25EB522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4078224"/>
            <a:ext cx="3593592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10-fold SGKF · IPI PSR (n = 11,265 · AntiBERTa2-CSSP)
</a:t>
            </a:r>
            <a:r>
              <a:rPr sz="850">
                <a:solidFill>
                  <a:srgbClr val="FFFFFF"/>
                </a:solidFill>
                <a:latin typeface="Arial"/>
                <a:ea typeface="Arial"/>
                <a:cs typeface="Arial"/>
              </a:rPr>
              <a:t>Mean AUC = 0.957 ± 0.008
Best fold AUC = 0.968   ·   Youden threshold t = 0.441
Mean best epoch = 26</a:t>
            </a:r>
            <a:endParaRPr sz="850"/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6C1F0514-FF60-4ED7-9E81-2D7F938D2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579108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BBBB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03F26309-481B-488A-B106-EAB951CD3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688836"/>
            <a:ext cx="7013448" cy="39090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850">
                <a:solidFill>
                  <a:srgbClr val="222222"/>
                </a:solidFill>
                <a:latin typeface="Arial"/>
                <a:ea typeface="Arial"/>
                <a:cs typeface="Arial"/>
              </a:rPr>
              <a:t>Schematic of the TransformerLM classifier. A fixed-length protein language model (PLM) embedding is projected by a Linear(emb_dim → 128) block (LayerNorm + Dropout), then combined with a learnable CLS token (truncated normal initialisation, σ = 0.02) to form a 2-token input sequence [CLS, embed]. The sequence passes through a Pre-Layer Normalisation (Pre-LN) Transformer encoder producing a CLS token representation that feeds a classification head (LayerNorm → Dropout → Linear(128 → 2)) producing P(Pass) and P(Fail) via softmax. Dashed line: automatic export of the 128-dimensional CLS hidden state as a task-specific embedding CSV for downstream clustering or t-SNE. *Dropout (0.10–0.45) and epoch ceiling (15–55) are scaled automatically by auto_scale_config() using two axes: n_norm (log-scaled dataset size) and d_norm (samples per embedding dimension). All other hyperparameters are fixed across all PLMs and dataset sizes. All parameters are configurable via YAML without code modification (priority: YAML override &gt; auto_scale &gt; built-in defaults).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72999839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A7AB57C-A902-46CC-A2EA-A93E5287E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0040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EE08EEE-1088-4927-8DB8-CB6A74B4D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4864"/>
            <a:ext cx="7013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Supplementary Fig. 3  |  CNN architecture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D5A78B7-B896-4A70-8124-05CC3AAB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38328"/>
            <a:ext cx="7013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Flat PLM embedding treated as 1D signal  ·  dilated residual blocks  ·  AdaptiveMaxPool</a:t>
            </a:r>
            <a:endParaRPr sz="8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784755D-F5CC-4B04-874D-1D6D2AFF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40080"/>
            <a:ext cx="283464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0F3EE"/>
          </a:solidFill>
          <a:ln xmlns:a="http://schemas.openxmlformats.org/drawingml/2006/main" w="6350">
            <a:solidFill>
              <a:srgbClr val="E0F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1DDA7A4-3BDD-458A-AEEB-1B02992C5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40080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PLM embedding  (B, emb_dim)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15764C9E-A879-4E05-9734-95FFE1F4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060704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A965967-BB77-4166-ADD8-E5B9562DC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225296"/>
            <a:ext cx="2834640" cy="384048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6350">
            <a:solidFill>
              <a:srgbClr val="F3F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3F509DF-47E6-4509-8DB7-09653E9F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225296"/>
            <a:ext cx="283464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4A4A4A"/>
                </a:solidFill>
                <a:latin typeface="Arial"/>
                <a:ea typeface="Arial"/>
                <a:cs typeface="Arial"/>
              </a:rPr>
              <a:t>Unsqueeze  →  (B, 1, emb_dim)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82941933-C5F7-4C77-B4D5-CE2A2A0E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1609344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5A4DEB41-E56A-4FF8-ABAD-C968E8FBD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773936"/>
            <a:ext cx="28346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6E56"/>
          </a:solidFill>
          <a:ln xmlns:a="http://schemas.openxmlformats.org/drawingml/2006/main" w="6350">
            <a:solidFill>
              <a:srgbClr val="0B6E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8B5C608D-B53C-4DF6-A470-C3F13713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810512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ResidualBlock 1  (dilation = 1)</a:t>
            </a:r>
            <a:endParaRPr sz="9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9FEABE5-0263-47F1-B095-7F676348E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048256"/>
            <a:ext cx="2834640" cy="2523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9FE1CB"/>
                </a:solidFill>
                <a:latin typeface="Arial"/>
                <a:ea typeface="Arial"/>
                <a:cs typeface="Arial"/>
              </a:rPr>
              <a:t>Conv1d 1 → 128  ·  k=5  ·  BatchNorm  ·  GELU  ·  shortcut</a:t>
            </a:r>
            <a:endParaRPr sz="8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0FE13513-679E-4470-A124-976C86B8E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322576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C26AB40A-68DE-4EDE-981C-681358BC0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487168"/>
            <a:ext cx="28346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6E56"/>
          </a:solidFill>
          <a:ln xmlns:a="http://schemas.openxmlformats.org/drawingml/2006/main" w="6350">
            <a:solidFill>
              <a:srgbClr val="0B6E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4847B147-E54A-453E-AD2A-C3E8B9F33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523744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ResidualBlock 2  (dilation = 2)</a:t>
            </a:r>
            <a:endParaRPr sz="90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13E9BDA-A63A-498E-BB91-E5B2ACBC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761488"/>
            <a:ext cx="2834640" cy="2523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9FE1CB"/>
                </a:solidFill>
                <a:latin typeface="Arial"/>
                <a:ea typeface="Arial"/>
                <a:cs typeface="Arial"/>
              </a:rPr>
              <a:t>Conv1d 128 → 256  ·  k=5  ·  BatchNorm  ·  GELU  ·  shortcut</a:t>
            </a:r>
            <a:endParaRPr sz="8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2C97AD81-161D-4CB5-A23C-344FE4D82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035808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37BDE241-543F-4B28-8007-A33F0635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00400"/>
            <a:ext cx="28346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0B6E56"/>
          </a:solidFill>
          <a:ln xmlns:a="http://schemas.openxmlformats.org/drawingml/2006/main" w="6350">
            <a:solidFill>
              <a:srgbClr val="0B6E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8F093D92-08BD-4CEA-B7A8-E6908096A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36976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ResidualBlock 3  (dilation = 4)</a:t>
            </a:r>
            <a:endParaRPr sz="900"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1F953305-CDD3-4347-B49E-700060D5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474720"/>
            <a:ext cx="2834640" cy="2523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9FE1CB"/>
                </a:solidFill>
                <a:latin typeface="Arial"/>
                <a:ea typeface="Arial"/>
                <a:cs typeface="Arial"/>
              </a:rPr>
              <a:t>Conv1d 256 → 256  ·  k=5  ·  BatchNorm  ·  GELU  ·  shortcut</a:t>
            </a:r>
            <a:endParaRPr sz="8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52B3797A-0D9C-43A2-8F05-F9436968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3749040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6D86CC70-4F53-4EB1-A643-5B794EB6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913632"/>
            <a:ext cx="2834640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6350">
            <a:solidFill>
              <a:srgbClr val="F3F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09F10ED6-4FF4-4A7C-851E-794B6C40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950208"/>
            <a:ext cx="28346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4A4A4A"/>
                </a:solidFill>
                <a:latin typeface="Arial"/>
                <a:ea typeface="Arial"/>
                <a:cs typeface="Arial"/>
              </a:rPr>
              <a:t>AdaptiveMaxPool1d(1)  →  (B, 256)</a:t>
            </a:r>
            <a:endParaRPr sz="90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A8469EAC-A19F-4DCC-B40F-84621E22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142232"/>
            <a:ext cx="28346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555555"/>
                </a:solidFill>
                <a:latin typeface="Arial"/>
                <a:ea typeface="Arial"/>
                <a:cs typeface="Arial"/>
              </a:rPr>
              <a:t>max activation per channel  ·  automatic feature selection</a:t>
            </a:r>
            <a:endParaRPr sz="8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99136391-543F-41ED-879D-BF487B0E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4370832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9053F901-B437-4301-BC4F-5A0B2051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535424"/>
            <a:ext cx="283464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C2B5A"/>
          </a:solidFill>
          <a:ln xmlns:a="http://schemas.openxmlformats.org/drawingml/2006/main" w="635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25F76AE5-0D30-4B55-B86A-7DACEAEE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572000"/>
            <a:ext cx="2834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FC head</a:t>
            </a:r>
            <a:endParaRPr sz="9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E8032DD9-E2F3-4F80-9713-26455F52F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809744"/>
            <a:ext cx="2834640" cy="2523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>
                <a:solidFill>
                  <a:srgbClr val="FFFFFF"/>
                </a:solidFill>
                <a:latin typeface="Arial"/>
                <a:ea typeface="Arial"/>
                <a:cs typeface="Arial"/>
              </a:rPr>
              <a:t>Dropout  ·  Linear(256 → hidden*)  ·  BN  ·  GELU  ·  Dropout  ·  Linear(hidden* → 2)</a:t>
            </a:r>
            <a:endParaRPr sz="8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FAE0F502-3890-4B0C-95B2-51069EB1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084064"/>
            <a:ext cx="0" cy="1645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1C2B5A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D0B012A-9718-4E7C-ADFD-11B70DE6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248656"/>
            <a:ext cx="283464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6350">
            <a:solidFill>
              <a:srgbClr val="FDE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89D613AD-2C29-4132-A9BB-9A6ADFC1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248656"/>
            <a:ext cx="283464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8B2500"/>
                </a:solidFill>
                <a:latin typeface="Arial"/>
                <a:ea typeface="Arial"/>
                <a:cs typeface="Arial"/>
              </a:rPr>
              <a:t>P(Pass)  ·  P(Fail)  —  softmax</a:t>
            </a:r>
            <a:endParaRPr sz="9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52B86D79-D357-48F0-BD30-4EC97AAD8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833872"/>
            <a:ext cx="2834640" cy="1019556"/>
          </a:xfrm>
          <a:prstGeom xmlns:a="http://schemas.openxmlformats.org/drawingml/2006/main" prst="roundRect">
            <a:avLst>
              <a:gd name="adj" fmla="val 538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7620">
            <a:solidFill>
              <a:srgbClr val="2979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C477770A-EC76-49DF-BFCF-1BE9834DA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888736"/>
            <a:ext cx="2651760" cy="9281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A5276"/>
                </a:solidFill>
                <a:latin typeface="Arial"/>
                <a:ea typeface="Arial"/>
                <a:cs typeface="Arial"/>
              </a:rPr>
              <a:t>⚙  YAML-configurable / auto_scale_config()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hidden_dim*: 64 – 256  scaled by d_norm (n / emb_dim)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dropout: 0.10 – 0.45  scaled by d_norm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batch_size, epochs, lr: scaled by n_norm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loss type: auto  (balanced / imbalanced dataset)</a:t>
            </a:r>
            <a:endParaRPr sz="800"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A8EEC6DF-DFAB-4935-BCCD-A925AA44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640080"/>
            <a:ext cx="38130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C2B5A"/>
                </a:solidFill>
                <a:latin typeface="Arial"/>
                <a:ea typeface="Arial"/>
                <a:cs typeface="Arial"/>
              </a:rPr>
              <a:t>Architecture details</a:t>
            </a:r>
            <a:endParaRPr sz="1000"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670D4CB4-0D7F-4BD8-AE25-C5A9DE21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9235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kernel_size</a:t>
            </a:r>
            <a:endParaRPr sz="900"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8D08343B-D182-4EE6-9D7C-791997DA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9235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5  (all Conv1d layers)</a:t>
            </a:r>
            <a:endParaRPr sz="9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A5513930-76CF-493A-8D30-57ED009A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1521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dilation</a:t>
            </a:r>
            <a:endParaRPr sz="900"/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82ADFA6C-AD76-4B60-BA95-E5E63B8A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1521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1, 2, 4  →  cumulative receptive fields 9, 25, 57</a:t>
            </a:r>
            <a:endParaRPr sz="900"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B1A7CE70-4CCA-4BA2-A86D-CC3157FC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3807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channels</a:t>
            </a:r>
            <a:endParaRPr sz="900"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60751A8F-ABD2-4B6D-8076-C8669B880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3807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1 → 128 → 256 → 256</a:t>
            </a:r>
            <a:endParaRPr sz="900"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D310EACF-0FE7-47D9-A8D4-3F83E81D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6093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shortcut</a:t>
            </a:r>
            <a:endParaRPr sz="900"/>
          </a:p>
        </p:txBody>
      </p:sp>
      <p:sp>
        <p:nvSpPr>
          <p:cNvPr id="47" name="Text 45">
            <a:extLst xmlns:a="http://schemas.openxmlformats.org/drawingml/2006/main">
              <a:ext uri="{FF2B5EF4-FFF2-40B4-BE49-F238E27FC236}">
                <a16:creationId xmlns:a16="http://schemas.microsoft.com/office/drawing/2014/main" id="{F33EE47A-1BD7-4734-8DFA-6D46C84F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6093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projection (≠ dims)  or  identity</a:t>
            </a:r>
            <a:endParaRPr sz="900"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1063F8F4-08A5-4DBE-AFC3-E4D03843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18379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pooling</a:t>
            </a:r>
            <a:endParaRPr sz="900"/>
          </a:p>
        </p:txBody>
      </p:sp>
      <p:sp>
        <p:nvSpPr>
          <p:cNvPr id="49" name="Text 47">
            <a:extLst xmlns:a="http://schemas.openxmlformats.org/drawingml/2006/main">
              <a:ext uri="{FF2B5EF4-FFF2-40B4-BE49-F238E27FC236}">
                <a16:creationId xmlns:a16="http://schemas.microsoft.com/office/drawing/2014/main" id="{EDBEAB9B-0118-47E6-8182-966EC61E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8379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AdaptiveMaxPool1d(1)  →  256-dim</a:t>
            </a:r>
            <a:endParaRPr sz="900"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1A5298AD-5561-4229-B25F-E8BF161C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0665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BatchNorm</a:t>
            </a:r>
            <a:endParaRPr sz="900"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BE2ADF2A-1CF3-4CEA-9F7A-7E4B6AB8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0665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inside every residual block</a:t>
            </a:r>
            <a:endParaRPr sz="9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132DEA52-107A-40C5-8B84-5E6123C4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2951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activation</a:t>
            </a:r>
            <a:endParaRPr sz="900"/>
          </a:p>
        </p:txBody>
      </p:sp>
      <p:sp>
        <p:nvSpPr>
          <p:cNvPr id="53" name="Text 51">
            <a:extLst xmlns:a="http://schemas.openxmlformats.org/drawingml/2006/main">
              <a:ext uri="{FF2B5EF4-FFF2-40B4-BE49-F238E27FC236}">
                <a16:creationId xmlns:a16="http://schemas.microsoft.com/office/drawing/2014/main" id="{0B493CDA-E782-4FE5-9B26-7B8634C2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2951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GELU throughout</a:t>
            </a:r>
            <a:endParaRPr sz="900"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F1661546-E60D-4CDA-B7E8-F0ABD7C1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523744"/>
            <a:ext cx="11430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8B2500"/>
                </a:solidFill>
                <a:latin typeface="Arial"/>
                <a:ea typeface="Arial"/>
                <a:cs typeface="Arial"/>
              </a:rPr>
              <a:t>†drop_last</a:t>
            </a:r>
            <a:endParaRPr sz="900"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52778183-80FC-4DB7-8262-393B1F8F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523744"/>
            <a:ext cx="262432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True  (prevents BN crash at batch_size=1)</a:t>
            </a:r>
            <a:endParaRPr sz="90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C32FEC09-7614-4396-AA7D-1B9DD610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862072"/>
            <a:ext cx="38130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69D4694C-35EA-400E-968A-D3EFA5F0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026664"/>
            <a:ext cx="3813048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1C2B5A"/>
                </a:solidFill>
                <a:latin typeface="Arial"/>
                <a:ea typeface="Arial"/>
                <a:cs typeface="Arial"/>
              </a:rPr>
              <a:t>Standalone CNN evaluation</a:t>
            </a:r>
            <a:endParaRPr sz="1000"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353AE6F5-EE3C-4E39-AA0B-DF13E0EB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3300984"/>
            <a:ext cx="3813048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The CNN processes the fixed-length PLM embedding vector through three dilated residual blocks, adaptive maximum pooling, and a fully connected classification head. It is evaluated as a standalone classifier in the 25-combination benchmark.</a:t>
            </a:r>
            <a:endParaRPr sz="900"/>
          </a:p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BAA0DC8B-2371-431D-9887-8CADE4F25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4448" y="4251960"/>
            <a:ext cx="3593592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10-fold SGKF · IPI PSR (n = 11,265 · AntiBERTa2-CSSP)
Performance is reported in Supplementary Table 2
All parameters are configurable through YAML</a:t>
            </a:r>
            <a:endParaRPr sz="850"/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804A5405-52E0-4DB4-A037-BF70D91F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036308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BBBB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FAAC47A1-03FC-473E-81C4-397D5265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146036"/>
            <a:ext cx="7013448" cy="34518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850">
                <a:solidFill>
                  <a:srgbClr val="222222"/>
                </a:solidFill>
                <a:latin typeface="Arial"/>
                <a:ea typeface="Arial"/>
                <a:cs typeface="Arial"/>
              </a:rPr>
              <a:t>Schematic of the 1D residual CNN classifier. A PLM embedding vector (B × emb_dim) is unsqueezed to a (B, 1, emb_dim) signal and processed by three sequential dilated residual blocks (dilations 1, 2, and 4; kernel_size = 5). Each block contains two Conv1d layers, giving cumulative receptive fields of 9, 25, and 57 embedding dimensions. Each block also applies BatchNorm1d and GELU activation, with a projection shortcut where channel dimensions change. AdaptiveMaxPool1d(1) collapses the feature map to a fixed 256-dimensional vector by selecting the maximum activation per channel. The FC head applies Dropout → Linear(256 → hidden*) → BatchNorm1d → GELU → Dropout → Linear(hidden* → 2). †drop_last=True prevents BatchNorm from receiving a single-sample batch. Dashed line: penultimate-layer hidden state exported as CSV. *hidden_dim (64–256) and dropout (0.10–0.45) are scaled automatically by auto_scale_config() from d_norm (samples per embedding dimension). All parameters are configurable via YAML without code modification.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99955235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71FEC69-F9BB-4D49-A751-1E9DC5C7B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65760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2F5F3DE-1F60-40FA-A2EA-90A1D19B4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4864"/>
            <a:ext cx="7013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Supplementary Fig. 4  |  </a:t>
            </a: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TransformerOneHot</a:t>
            </a: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: Architecture and Integrated Gradients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B9256511-4C88-45CE-A59C-79CAE777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65760"/>
            <a:ext cx="7013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i="1">
                <a:latin typeface="Arial"/>
                <a:ea typeface="Arial"/>
                <a:cs typeface="Arial"/>
              </a:rPr>
              <a:t>Dual-branch one-hot Transformer  ·  CDR3-guided cross-attention  ·  position-resolved IG attribution</a:t>
            </a:r>
            <a:endParaRPr sz="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D90BEC9-8B5B-486F-9922-DA048005D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03504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1C2B5A"/>
                </a:solidFill>
                <a:latin typeface="Arial"/>
                <a:ea typeface="Arial"/>
                <a:cs typeface="Arial"/>
              </a:rPr>
              <a:t>a  Forward pass</a:t>
            </a:r>
            <a:endParaRPr sz="11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BA09AA3-887B-487A-907E-5282C846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04672"/>
            <a:ext cx="1920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Branch 1  —  VH + VL</a:t>
            </a:r>
            <a:endParaRPr sz="10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5D2B187-A7A5-48AA-9ACC-2A73C84F4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804672"/>
            <a:ext cx="19842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Branch 2  —  HCDR3</a:t>
            </a:r>
            <a:endParaRPr sz="10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3A0F5CE-0B6C-4BF4-A426-F01F6043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33272"/>
            <a:ext cx="1920240" cy="512064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EEDFB"/>
          </a:solidFill>
          <a:ln xmlns:a="http://schemas.openxmlformats.org/drawingml/2006/main" w="6350">
            <a:solidFill>
              <a:srgbClr val="EEED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984598-B5D5-46A2-9385-8E13C563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069848"/>
            <a:ext cx="19202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VH + VL  one-hot</a:t>
            </a:r>
            <a:endParaRPr sz="11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2187C927-531C-4B41-AFA9-AD7573DE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289304"/>
            <a:ext cx="1920240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5C4BAD"/>
                </a:solidFill>
                <a:latin typeface="Arial"/>
                <a:ea typeface="Arial"/>
                <a:cs typeface="Arial"/>
              </a:rPr>
              <a:t>270 × 20 = 5,400 dim</a:t>
            </a:r>
            <a:endParaRPr sz="95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792DFD7-54E9-4A16-BE9D-CDB59044A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545336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07D70F53-38C9-4B90-AB8C-4E0A17C7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673352"/>
            <a:ext cx="1920240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6350">
            <a:solidFill>
              <a:srgbClr val="F3F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E4805124-6C76-462D-9AC5-6B553B47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673352"/>
            <a:ext cx="1920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4A4A4A"/>
                </a:solidFill>
                <a:latin typeface="Arial"/>
                <a:ea typeface="Arial"/>
                <a:cs typeface="Arial"/>
              </a:rPr>
              <a:t>Sinusoidal PE</a:t>
            </a:r>
            <a:endParaRPr sz="11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D78FAEA-A043-4250-93D1-D9BFB323B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039112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E2B4517E-E906-4E13-BCF0-E7E78C99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167128"/>
            <a:ext cx="1920240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5C4BAD"/>
          </a:solidFill>
          <a:ln xmlns:a="http://schemas.openxmlformats.org/drawingml/2006/main" w="6350">
            <a:solidFill>
              <a:srgbClr val="5C4B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00F9EA75-EAD0-421C-B2A1-1AED29869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203704"/>
            <a:ext cx="192024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Transformer encoder 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(Pre-LN)</a:t>
            </a:r>
            <a:endParaRPr sz="11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FE518FF-184C-46BA-A547-0CAD70D67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459736"/>
            <a:ext cx="1920240" cy="2691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C0B8EE"/>
                </a:solidFill>
                <a:latin typeface="Arial"/>
                <a:ea typeface="Arial"/>
                <a:cs typeface="Arial"/>
              </a:rPr>
              <a:t>N layers  ·  8 heads  ·  FFN*</a:t>
            </a:r>
            <a:endParaRPr sz="95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F3B7D10-DC51-487E-9D27-9A727AFA5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752344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5F4C6B94-508C-4AAA-9583-2B85E2F7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880360"/>
            <a:ext cx="1920240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EEDFB"/>
          </a:solidFill>
          <a:ln xmlns:a="http://schemas.openxmlformats.org/drawingml/2006/main" w="6350">
            <a:solidFill>
              <a:srgbClr val="EEED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2A6FEAD9-DCBA-48D3-B4D4-8E894798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880360"/>
            <a:ext cx="192024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Mean pool  →  x_pooled (H)</a:t>
            </a:r>
            <a:endParaRPr sz="110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A634C786-97A3-414D-ACA3-F4D4BF9F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033272"/>
            <a:ext cx="1984248" cy="512064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0F3EE"/>
          </a:solidFill>
          <a:ln xmlns:a="http://schemas.openxmlformats.org/drawingml/2006/main" w="6350">
            <a:solidFill>
              <a:srgbClr val="E0F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F53AEFE6-3A14-4286-96C2-FE2BB091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069848"/>
            <a:ext cx="19842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HCDR3  one-hot</a:t>
            </a:r>
            <a:endParaRPr sz="1100"/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2C4D700-45F0-49B5-A64F-F1CD568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289304"/>
            <a:ext cx="1984248" cy="235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0B6E56"/>
                </a:solidFill>
                <a:latin typeface="Arial"/>
                <a:ea typeface="Arial"/>
                <a:cs typeface="Arial"/>
              </a:rPr>
              <a:t>25 × 20 = 500 dim</a:t>
            </a:r>
            <a:endParaRPr sz="950"/>
          </a:p>
        </p:txBody>
      </p:sp>
      <p:sp>
        <p:nvSpPr>
          <p:cNvPr id="24" name="Shape 22">
            <a:extLst xmlns:a="http://schemas.openxmlformats.org/drawingml/2006/main">
              <a:ext uri="{FF2B5EF4-FFF2-40B4-BE49-F238E27FC236}">
                <a16:creationId xmlns:a16="http://schemas.microsoft.com/office/drawing/2014/main" id="{5772F705-2D4C-4DDD-8993-359B16389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644" y="1545336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9D216F3-33EF-47E4-BC6B-9757CB5F7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673352"/>
            <a:ext cx="198424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6350">
            <a:solidFill>
              <a:srgbClr val="F3F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E8A7A58-15C6-474F-9D87-12E69C78E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1673352"/>
            <a:ext cx="198424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4A4A4A"/>
                </a:solidFill>
                <a:latin typeface="Arial"/>
                <a:ea typeface="Arial"/>
                <a:cs typeface="Arial"/>
              </a:rPr>
              <a:t>Sinusoidal PE</a:t>
            </a:r>
            <a:endParaRPr sz="11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4F40F52-C555-4BC9-87C2-F958D176D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644" y="2039112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BC17337-20D8-44C8-80A0-A501680F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167128"/>
            <a:ext cx="1984248" cy="585216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0B6E56"/>
          </a:solidFill>
          <a:ln xmlns:a="http://schemas.openxmlformats.org/drawingml/2006/main" w="6350">
            <a:solidFill>
              <a:srgbClr val="0B6E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1912CF1-1D63-4360-89D7-45027B79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203704"/>
            <a:ext cx="198424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Transformer encoder 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(Pre-LN)</a:t>
            </a:r>
            <a:endParaRPr sz="1100"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D2CC1532-B18D-4E75-8A7F-F19310C93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459736"/>
            <a:ext cx="1984248" cy="2691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9FE1CB"/>
                </a:solidFill>
                <a:latin typeface="Arial"/>
                <a:ea typeface="Arial"/>
                <a:cs typeface="Arial"/>
              </a:rPr>
              <a:t>N layers  ·  8 heads  ·  FFN*</a:t>
            </a:r>
            <a:endParaRPr sz="9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32E4120D-7CF2-4C16-AEEE-2FCC888B5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644" y="2752344"/>
            <a:ext cx="0" cy="12801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D837302A-8363-4212-934E-7C85CC6A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80360"/>
            <a:ext cx="1984248" cy="402336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0F3EE"/>
          </a:solidFill>
          <a:ln xmlns:a="http://schemas.openxmlformats.org/drawingml/2006/main" w="6350">
            <a:solidFill>
              <a:srgbClr val="E0F3E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6BC02EEE-4397-4ED9-9E1B-E035E81BF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0" y="2880360"/>
            <a:ext cx="1984248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Mean pool  →  cdr3_pooled (H)</a:t>
            </a:r>
            <a:endParaRPr sz="11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41023092-BAFB-46AC-99A6-26F88ADA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282696"/>
            <a:ext cx="0" cy="530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37F88885-548B-4967-A6FB-3E6ADCB1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3813048"/>
            <a:ext cx="114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9A51503D-3FF7-4EEE-BA8C-AE5FB312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3657600"/>
            <a:ext cx="941832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00" i="1">
                <a:solidFill>
                  <a:srgbClr val="5C4BAD"/>
                </a:solidFill>
                <a:latin typeface="Arial"/>
                <a:ea typeface="Arial"/>
                <a:cs typeface="Arial"/>
              </a:rPr>
              <a:t>K, V  →</a:t>
            </a:r>
            <a:endParaRPr sz="9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7937795C-F78E-4B75-B4B2-EE883525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644" y="3282696"/>
            <a:ext cx="0" cy="5303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D575CB9C-644B-40BD-BE8B-E44384DE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813048"/>
            <a:ext cx="122072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6E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C4BE64AB-2ECD-4C58-880D-36259FE0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8072" y="3657600"/>
            <a:ext cx="7315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00" i="1">
                <a:solidFill>
                  <a:srgbClr val="0B6E56"/>
                </a:solidFill>
                <a:latin typeface="Arial"/>
                <a:ea typeface="Arial"/>
                <a:cs typeface="Arial"/>
              </a:rPr>
              <a:t>← Q</a:t>
            </a:r>
            <a:endParaRPr sz="900"/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EEB4F98D-B8FC-43AA-8B3D-793381A4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520440"/>
            <a:ext cx="2697480" cy="62179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EF0D7"/>
          </a:solidFill>
          <a:ln xmlns:a="http://schemas.openxmlformats.org/drawingml/2006/main" w="6350">
            <a:solidFill>
              <a:srgbClr val="FEF0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39">
            <a:extLst xmlns:a="http://schemas.openxmlformats.org/drawingml/2006/main">
              <a:ext uri="{FF2B5EF4-FFF2-40B4-BE49-F238E27FC236}">
                <a16:creationId xmlns:a16="http://schemas.microsoft.com/office/drawing/2014/main" id="{12BF15E8-425E-42C6-999B-C3013916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557016"/>
            <a:ext cx="26974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8C5200"/>
                </a:solidFill>
                <a:latin typeface="Arial"/>
                <a:ea typeface="Arial"/>
                <a:cs typeface="Arial"/>
              </a:rPr>
              <a:t>CDR3-guided cross-attention</a:t>
            </a:r>
            <a:endParaRPr sz="1100"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DCBA7880-24E7-438F-A480-12390A999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3831336"/>
            <a:ext cx="2697480" cy="2860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8C5200"/>
                </a:solidFill>
                <a:latin typeface="Arial"/>
                <a:ea typeface="Arial"/>
                <a:cs typeface="Arial"/>
              </a:rPr>
              <a:t>Q = cdr3_pooled  ·  K, V = x_full (all VH+VL positions)</a:t>
            </a:r>
            <a:endParaRPr sz="9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57623E5-E9B9-49E1-8BF9-F5A39926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3282696"/>
            <a:ext cx="0" cy="12435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0160">
            <a:solidFill>
              <a:srgbClr val="5C4BAD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8ADE93F9-B762-441D-ACAC-76DCC366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4168" y="4526280"/>
            <a:ext cx="103327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890">
            <a:solidFill>
              <a:srgbClr val="5C4BAD"/>
            </a:solidFill>
            <a:prstDash val="sysDot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3B29A84D-26F3-49A9-B7BC-138EFB30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3941064"/>
            <a:ext cx="1106424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 i="1">
                <a:solidFill>
                  <a:srgbClr val="5C4BAD"/>
                </a:solidFill>
                <a:latin typeface="Arial"/>
                <a:ea typeface="Arial"/>
                <a:cs typeface="Arial"/>
              </a:rPr>
              <a:t>x_pooled</a:t>
            </a:r>
            <a:endParaRPr sz="800"/>
          </a:p>
          <a:p xmlns:a="http://schemas.openxmlformats.org/drawingml/2006/main">
            <a:pPr marL="0" indent="0" algn="r">
              <a:buNone/>
            </a:pPr>
            <a:r>
              <a:rPr sz="800" i="1">
                <a:solidFill>
                  <a:srgbClr val="5C4BAD"/>
                </a:solidFill>
                <a:latin typeface="Arial"/>
                <a:ea typeface="Arial"/>
                <a:cs typeface="Arial"/>
              </a:rPr>
              <a:t>(bypass)</a:t>
            </a:r>
            <a:endParaRPr sz="800"/>
          </a:p>
        </p:txBody>
      </p:sp>
      <p:sp>
        <p:nvSpPr>
          <p:cNvPr id="46" name="Shape 44">
            <a:extLst xmlns:a="http://schemas.openxmlformats.org/drawingml/2006/main">
              <a:ext uri="{FF2B5EF4-FFF2-40B4-BE49-F238E27FC236}">
                <a16:creationId xmlns:a16="http://schemas.microsoft.com/office/drawing/2014/main" id="{A89B9B04-99DC-4218-AE26-C806A2DD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80" y="4142232"/>
            <a:ext cx="0" cy="1828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8C5200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A9C42CC9-CD3C-4ACF-A4DE-F6D863CA6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325112"/>
            <a:ext cx="2697480" cy="420624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3F3F3"/>
          </a:solidFill>
          <a:ln xmlns:a="http://schemas.openxmlformats.org/drawingml/2006/main" w="6350">
            <a:solidFill>
              <a:srgbClr val="F3F3F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6C273BFB-B9E9-4DFB-B40D-C5238EB7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325112"/>
            <a:ext cx="2697480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4A4A4A"/>
                </a:solidFill>
                <a:latin typeface="Arial"/>
                <a:ea typeface="Arial"/>
                <a:cs typeface="Arial"/>
              </a:rPr>
              <a:t>Concatenate  [ x_pooled  ‖  attn_out ] (2H)</a:t>
            </a:r>
            <a:endParaRPr sz="110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2593D819-BB4B-40E9-9617-5B8F505B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80" y="4745736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C2B5A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Shape 48">
            <a:extLst xmlns:a="http://schemas.openxmlformats.org/drawingml/2006/main">
              <a:ext uri="{FF2B5EF4-FFF2-40B4-BE49-F238E27FC236}">
                <a16:creationId xmlns:a16="http://schemas.microsoft.com/office/drawing/2014/main" id="{83FC20BD-F988-4C7F-8E6A-2E1E696F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892040"/>
            <a:ext cx="269748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1C2B5A"/>
          </a:solidFill>
          <a:ln xmlns:a="http://schemas.openxmlformats.org/drawingml/2006/main" w="635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Text 49">
            <a:extLst xmlns:a="http://schemas.openxmlformats.org/drawingml/2006/main">
              <a:ext uri="{FF2B5EF4-FFF2-40B4-BE49-F238E27FC236}">
                <a16:creationId xmlns:a16="http://schemas.microsoft.com/office/drawing/2014/main" id="{4AF55673-DEE9-446C-AA6B-8AE0EE40E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4928616"/>
            <a:ext cx="269748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b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Classification head</a:t>
            </a:r>
            <a:endParaRPr sz="1100"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880E6E00-61E3-46C4-BC26-0DCABAB3A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166360"/>
            <a:ext cx="2697480" cy="2523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Arial"/>
                <a:ea typeface="Arial"/>
                <a:cs typeface="Arial"/>
              </a:rPr>
              <a:t>LayerNorm  ·  Dropout  ·  Linear(2H → 2)</a:t>
            </a:r>
            <a:endParaRPr sz="95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D872C476-3665-419E-B37E-0FE08B4C5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80" y="5440680"/>
            <a:ext cx="0" cy="14630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1C2B5A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hape 52">
            <a:extLst xmlns:a="http://schemas.openxmlformats.org/drawingml/2006/main">
              <a:ext uri="{FF2B5EF4-FFF2-40B4-BE49-F238E27FC236}">
                <a16:creationId xmlns:a16="http://schemas.microsoft.com/office/drawing/2014/main" id="{3D54E459-FE35-4F3C-8EAC-FDD746D1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586984"/>
            <a:ext cx="2697480" cy="475488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6350">
            <a:solidFill>
              <a:srgbClr val="FDEA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Text 53">
            <a:extLst xmlns:a="http://schemas.openxmlformats.org/drawingml/2006/main">
              <a:ext uri="{FF2B5EF4-FFF2-40B4-BE49-F238E27FC236}">
                <a16:creationId xmlns:a16="http://schemas.microsoft.com/office/drawing/2014/main" id="{9A8D4507-7FCA-4429-9D76-585671FF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5586984"/>
            <a:ext cx="269748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8B2500"/>
                </a:solidFill>
                <a:latin typeface="Arial"/>
                <a:ea typeface="Arial"/>
                <a:cs typeface="Arial"/>
              </a:rPr>
              <a:t>P(Pass)  ·  P(Fail)  —  softmax</a:t>
            </a:r>
            <a:endParaRPr sz="1100"/>
          </a:p>
        </p:txBody>
      </p:sp>
      <p:sp>
        <p:nvSpPr>
          <p:cNvPr id="56" name="Shape 54">
            <a:extLst xmlns:a="http://schemas.openxmlformats.org/drawingml/2006/main">
              <a:ext uri="{FF2B5EF4-FFF2-40B4-BE49-F238E27FC236}">
                <a16:creationId xmlns:a16="http://schemas.microsoft.com/office/drawing/2014/main" id="{B5314167-DE86-4940-9DE5-8FC5A6DC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6318504"/>
            <a:ext cx="7050024" cy="1641199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4F7FF"/>
          </a:solidFill>
          <a:ln xmlns:a="http://schemas.openxmlformats.org/drawingml/2006/main" w="6350">
            <a:solidFill>
              <a:srgbClr val="C8D4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Text 55">
            <a:extLst xmlns:a="http://schemas.openxmlformats.org/drawingml/2006/main">
              <a:ext uri="{FF2B5EF4-FFF2-40B4-BE49-F238E27FC236}">
                <a16:creationId xmlns:a16="http://schemas.microsoft.com/office/drawing/2014/main" id="{F44713D1-5599-4C6F-8097-999EC173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409944"/>
            <a:ext cx="6766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1C2B5A"/>
                </a:solidFill>
                <a:latin typeface="Arial"/>
                <a:ea typeface="Arial"/>
                <a:cs typeface="Arial"/>
              </a:rPr>
              <a:t>b  Integrated Gradients attribution  (backward through network)</a:t>
            </a:r>
            <a:endParaRPr sz="1100"/>
          </a:p>
        </p:txBody>
      </p:sp>
      <p:sp>
        <p:nvSpPr>
          <p:cNvPr id="58" name="Shape 56">
            <a:extLst xmlns:a="http://schemas.openxmlformats.org/drawingml/2006/main">
              <a:ext uri="{FF2B5EF4-FFF2-40B4-BE49-F238E27FC236}">
                <a16:creationId xmlns:a16="http://schemas.microsoft.com/office/drawing/2014/main" id="{198BA13A-B03D-4F91-930D-510954A63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80" y="6062472"/>
            <a:ext cx="0" cy="64008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970">
            <a:solidFill>
              <a:srgbClr val="8B2500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Text 57">
            <a:extLst xmlns:a="http://schemas.openxmlformats.org/drawingml/2006/main">
              <a:ext uri="{FF2B5EF4-FFF2-40B4-BE49-F238E27FC236}">
                <a16:creationId xmlns:a16="http://schemas.microsoft.com/office/drawing/2014/main" id="{41CAF340-DF05-4F16-9F17-60D9B9E04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7620" y="6117336"/>
            <a:ext cx="11887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8B2500"/>
                </a:solidFill>
                <a:latin typeface="Arial"/>
                <a:ea typeface="Arial"/>
                <a:cs typeface="Arial"/>
              </a:rPr>
              <a:t>IG target = P(Pass)</a:t>
            </a:r>
            <a:endParaRPr sz="850"/>
          </a:p>
        </p:txBody>
      </p:sp>
      <p:sp>
        <p:nvSpPr>
          <p:cNvPr id="60" name="Shape 58">
            <a:extLst xmlns:a="http://schemas.openxmlformats.org/drawingml/2006/main">
              <a:ext uri="{FF2B5EF4-FFF2-40B4-BE49-F238E27FC236}">
                <a16:creationId xmlns:a16="http://schemas.microsoft.com/office/drawing/2014/main" id="{F9F8C8A8-1739-41BD-A2D1-55A93B49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702552"/>
            <a:ext cx="249174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C4B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A369CFA6-4D9D-4E9D-BA8D-A47A34AC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80" y="6702552"/>
            <a:ext cx="256946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6E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Shape 60">
            <a:extLst xmlns:a="http://schemas.openxmlformats.org/drawingml/2006/main">
              <a:ext uri="{FF2B5EF4-FFF2-40B4-BE49-F238E27FC236}">
                <a16:creationId xmlns:a16="http://schemas.microsoft.com/office/drawing/2014/main" id="{B5E5E097-B588-414D-9632-E6FA1205D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6739127"/>
            <a:ext cx="2697480" cy="621792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AABB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Text 61">
            <a:extLst xmlns:a="http://schemas.openxmlformats.org/drawingml/2006/main">
              <a:ext uri="{FF2B5EF4-FFF2-40B4-BE49-F238E27FC236}">
                <a16:creationId xmlns:a16="http://schemas.microsoft.com/office/drawing/2014/main" id="{08C05F53-59C7-4148-97C0-8D9ADDBA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6757416"/>
            <a:ext cx="2491740" cy="27431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222222"/>
                </a:solidFill>
                <a:latin typeface="Courier New"/>
                <a:ea typeface="Courier New"/>
                <a:cs typeface="Courier New"/>
              </a:rPr>
              <a:t>IGᵢ(x) = (xᵢ − x̄ᵢ) ×  ∫₀¹ ∂F(x̄+α(x−x̄))/∂xᵢ  dα</a:t>
            </a:r>
            <a:endParaRPr sz="900"/>
          </a:p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AFADF0A3-AEE4-4271-BD46-CF17EEB05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7086600"/>
            <a:ext cx="25146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uniform AA reference  ·  F = P(Pass)  ·  200 steps  ·  target = class 1</a:t>
            </a:r>
            <a:endParaRPr sz="850"/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F36CD83C-1B3B-41D8-AD84-4BEB491C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700356"/>
            <a:ext cx="0" cy="21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C4BA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D70ADA59-2927-496B-8411-838B369E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" y="6739128"/>
            <a:ext cx="94183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i="1">
                <a:solidFill>
                  <a:srgbClr val="5C4BAD"/>
                </a:solidFill>
                <a:latin typeface="Arial"/>
                <a:ea typeface="Arial"/>
                <a:cs typeface="Arial"/>
              </a:rPr>
              <a:t>∂F/∂x₁</a:t>
            </a:r>
            <a:endParaRPr sz="850"/>
          </a:p>
          <a:p xmlns:a="http://schemas.openxmlformats.org/drawingml/2006/main">
            <a:pPr marL="0" indent="0" algn="r">
              <a:buNone/>
            </a:pPr>
            <a:r>
              <a:rPr sz="850" i="1">
                <a:solidFill>
                  <a:srgbClr val="5C4BAD"/>
                </a:solidFill>
                <a:latin typeface="Arial"/>
                <a:ea typeface="Arial"/>
                <a:cs typeface="Arial"/>
              </a:rPr>
              <a:t>(branch 1)</a:t>
            </a:r>
            <a:endParaRPr sz="850"/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6190FF11-0AC9-4732-97C7-F4D62F113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44652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5C4BAD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Shape 66">
            <a:extLst xmlns:a="http://schemas.openxmlformats.org/drawingml/2006/main">
              <a:ext uri="{FF2B5EF4-FFF2-40B4-BE49-F238E27FC236}">
                <a16:creationId xmlns:a16="http://schemas.microsoft.com/office/drawing/2014/main" id="{380FBB96-E24E-42B8-ACFC-8DE92A2B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644" y="6700356"/>
            <a:ext cx="0" cy="21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Text 67">
            <a:extLst xmlns:a="http://schemas.openxmlformats.org/drawingml/2006/main">
              <a:ext uri="{FF2B5EF4-FFF2-40B4-BE49-F238E27FC236}">
                <a16:creationId xmlns:a16="http://schemas.microsoft.com/office/drawing/2014/main" id="{280A50EC-D8DA-48DB-A340-DC445AB1D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092" y="6700357"/>
            <a:ext cx="914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0B6E56"/>
                </a:solidFill>
                <a:latin typeface="Arial"/>
                <a:ea typeface="Arial"/>
                <a:cs typeface="Arial"/>
              </a:rPr>
              <a:t>∂F/∂x₂</a:t>
            </a:r>
            <a:endParaRPr sz="850"/>
          </a:p>
          <a:p xmlns:a="http://schemas.openxmlformats.org/drawingml/2006/main">
            <a:pPr marL="0" indent="0" algn="l">
              <a:buNone/>
            </a:pPr>
            <a:r>
              <a:rPr sz="850" i="1">
                <a:solidFill>
                  <a:srgbClr val="0B6E56"/>
                </a:solidFill>
                <a:latin typeface="Arial"/>
                <a:ea typeface="Arial"/>
                <a:cs typeface="Arial"/>
              </a:rPr>
              <a:t>(branch 2)</a:t>
            </a:r>
            <a:endParaRPr sz="850"/>
          </a:p>
        </p:txBody>
      </p:sp>
      <p:sp>
        <p:nvSpPr>
          <p:cNvPr id="70" name="Shape 68">
            <a:extLst xmlns:a="http://schemas.openxmlformats.org/drawingml/2006/main">
              <a:ext uri="{FF2B5EF4-FFF2-40B4-BE49-F238E27FC236}">
                <a16:creationId xmlns:a16="http://schemas.microsoft.com/office/drawing/2014/main" id="{95AFA320-295F-40C5-A54F-36532AC6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644" y="644652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B6E56"/>
            </a:solidFill>
            <a:prstDash val="solid"/>
            <a:headEnd type="none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Shape 69">
            <a:extLst xmlns:a="http://schemas.openxmlformats.org/drawingml/2006/main">
              <a:ext uri="{FF2B5EF4-FFF2-40B4-BE49-F238E27FC236}">
                <a16:creationId xmlns:a16="http://schemas.microsoft.com/office/drawing/2014/main" id="{27E98CFB-EADC-4FF0-81C3-F8338E5A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6702552"/>
            <a:ext cx="0" cy="7132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Shape 70">
            <a:extLst xmlns:a="http://schemas.openxmlformats.org/drawingml/2006/main">
              <a:ext uri="{FF2B5EF4-FFF2-40B4-BE49-F238E27FC236}">
                <a16:creationId xmlns:a16="http://schemas.microsoft.com/office/drawing/2014/main" id="{260B79BF-BE8D-4AA4-BF87-8A7A59BC9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644" y="6702552"/>
            <a:ext cx="0" cy="71323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Shape 71">
            <a:extLst xmlns:a="http://schemas.openxmlformats.org/drawingml/2006/main">
              <a:ext uri="{FF2B5EF4-FFF2-40B4-BE49-F238E27FC236}">
                <a16:creationId xmlns:a16="http://schemas.microsoft.com/office/drawing/2014/main" id="{F8642AA5-028E-4C19-BE50-EF5BE7E5C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415784"/>
            <a:ext cx="2212848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5C4BAD"/>
          </a:solidFill>
          <a:ln xmlns:a="http://schemas.openxmlformats.org/drawingml/2006/main" w="12700">
            <a:solidFill>
              <a:srgbClr val="5C4B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4" name="Text 72">
            <a:extLst xmlns:a="http://schemas.openxmlformats.org/drawingml/2006/main">
              <a:ext uri="{FF2B5EF4-FFF2-40B4-BE49-F238E27FC236}">
                <a16:creationId xmlns:a16="http://schemas.microsoft.com/office/drawing/2014/main" id="{8CD11402-E536-4FBB-B9FB-00059AB2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415784"/>
            <a:ext cx="2212848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Arial"/>
                <a:ea typeface="Arial"/>
                <a:cs typeface="Arial"/>
              </a:rPr>
              <a:t>VH+VL attribution vector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Arial"/>
                <a:ea typeface="Arial"/>
                <a:cs typeface="Arial"/>
              </a:rPr>
              <a:t>270 positions  ·  sum over AA dim</a:t>
            </a:r>
            <a:endParaRPr sz="950"/>
          </a:p>
        </p:txBody>
      </p:sp>
      <p:sp>
        <p:nvSpPr>
          <p:cNvPr id="75" name="Shape 73">
            <a:extLst xmlns:a="http://schemas.openxmlformats.org/drawingml/2006/main">
              <a:ext uri="{FF2B5EF4-FFF2-40B4-BE49-F238E27FC236}">
                <a16:creationId xmlns:a16="http://schemas.microsoft.com/office/drawing/2014/main" id="{2BD5D0F9-8CA7-46BF-8BA0-5861DA211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7415784"/>
            <a:ext cx="2185416" cy="4572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0B6E56"/>
          </a:solidFill>
          <a:ln xmlns:a="http://schemas.openxmlformats.org/drawingml/2006/main" w="12700">
            <a:solidFill>
              <a:srgbClr val="0B6E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Text 74">
            <a:extLst xmlns:a="http://schemas.openxmlformats.org/drawingml/2006/main">
              <a:ext uri="{FF2B5EF4-FFF2-40B4-BE49-F238E27FC236}">
                <a16:creationId xmlns:a16="http://schemas.microsoft.com/office/drawing/2014/main" id="{7C0796CB-9832-45A6-BD05-B2DED0EB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7415784"/>
            <a:ext cx="218541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Arial"/>
                <a:ea typeface="Arial"/>
                <a:cs typeface="Arial"/>
              </a:rPr>
              <a:t>HCDR3 attribution vector</a:t>
            </a:r>
            <a:endParaRPr sz="950"/>
          </a:p>
          <a:p xmlns:a="http://schemas.openxmlformats.org/drawingml/2006/main">
            <a:pPr marL="0" indent="0" algn="ctr">
              <a:buNone/>
            </a:pPr>
            <a:r>
              <a:rPr sz="950">
                <a:solidFill>
                  <a:srgbClr val="FFFFFF"/>
                </a:solidFill>
                <a:latin typeface="Arial"/>
                <a:ea typeface="Arial"/>
                <a:cs typeface="Arial"/>
              </a:rPr>
              <a:t>25 positions</a:t>
            </a:r>
            <a:r>
              <a:rPr sz="950">
                <a:solidFill>
                  <a:srgbClr val="FFFFFF"/>
                </a:solidFill>
                <a:latin typeface="Arial"/>
                <a:ea typeface="Arial"/>
                <a:cs typeface="Arial"/>
              </a:rPr>
              <a:t>  ·  sum over AA dim</a:t>
            </a:r>
            <a:endParaRPr sz="950"/>
          </a:p>
        </p:txBody>
      </p:sp>
      <p:sp>
        <p:nvSpPr>
          <p:cNvPr id="77" name="Shape 75">
            <a:extLst xmlns:a="http://schemas.openxmlformats.org/drawingml/2006/main">
              <a:ext uri="{FF2B5EF4-FFF2-40B4-BE49-F238E27FC236}">
                <a16:creationId xmlns:a16="http://schemas.microsoft.com/office/drawing/2014/main" id="{7E8EF479-C136-4504-A569-9C9E51FE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032" y="8219296"/>
            <a:ext cx="7050024" cy="1408176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5FFF8"/>
          </a:solidFill>
          <a:ln xmlns:a="http://schemas.openxmlformats.org/drawingml/2006/main" w="6350">
            <a:solidFill>
              <a:srgbClr val="B0DDC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Text 76">
            <a:extLst xmlns:a="http://schemas.openxmlformats.org/drawingml/2006/main">
              <a:ext uri="{FF2B5EF4-FFF2-40B4-BE49-F238E27FC236}">
                <a16:creationId xmlns:a16="http://schemas.microsoft.com/office/drawing/2014/main" id="{9033E97E-BCA7-471A-B95C-192D29D96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8255872"/>
            <a:ext cx="67665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1C2B5A"/>
                </a:solidFill>
                <a:latin typeface="Arial"/>
                <a:ea typeface="Arial"/>
                <a:cs typeface="Arial"/>
              </a:rPr>
              <a:t>c  Outputs</a:t>
            </a:r>
            <a:endParaRPr sz="1100"/>
          </a:p>
        </p:txBody>
      </p:sp>
      <p:sp>
        <p:nvSpPr>
          <p:cNvPr id="79" name="Shape 77">
            <a:extLst xmlns:a="http://schemas.openxmlformats.org/drawingml/2006/main">
              <a:ext uri="{FF2B5EF4-FFF2-40B4-BE49-F238E27FC236}">
                <a16:creationId xmlns:a16="http://schemas.microsoft.com/office/drawing/2014/main" id="{944A233D-6A37-482B-A263-831B63AF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6180" y="7959703"/>
            <a:ext cx="0" cy="2595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8B2500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Shape 78">
            <a:extLst xmlns:a="http://schemas.openxmlformats.org/drawingml/2006/main">
              <a:ext uri="{FF2B5EF4-FFF2-40B4-BE49-F238E27FC236}">
                <a16:creationId xmlns:a16="http://schemas.microsoft.com/office/drawing/2014/main" id="{C3A00A61-437F-4761-A655-11D9724D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7959702"/>
            <a:ext cx="0" cy="2595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5C4BAD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1" name="Shape 79">
            <a:extLst xmlns:a="http://schemas.openxmlformats.org/drawingml/2006/main">
              <a:ext uri="{FF2B5EF4-FFF2-40B4-BE49-F238E27FC236}">
                <a16:creationId xmlns:a16="http://schemas.microsoft.com/office/drawing/2014/main" id="{8C1B4171-21F3-4CCB-BB27-43C9435B7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295644" y="7959703"/>
            <a:ext cx="0" cy="25959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0B6E56"/>
            </a:solidFill>
            <a:prstDash val="solid"/>
            <a:tailEnd type="non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2" name="Shape 80">
            <a:extLst xmlns:a="http://schemas.openxmlformats.org/drawingml/2006/main">
              <a:ext uri="{FF2B5EF4-FFF2-40B4-BE49-F238E27FC236}">
                <a16:creationId xmlns:a16="http://schemas.microsoft.com/office/drawing/2014/main" id="{4E64A2B6-1999-4DF8-8C20-91CEF5A2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548480"/>
            <a:ext cx="2304288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EDFF"/>
          </a:solidFill>
          <a:ln xmlns:a="http://schemas.openxmlformats.org/drawingml/2006/main" w="8890">
            <a:solidFill>
              <a:srgbClr val="5C4BA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3" name="Text 81">
            <a:extLst xmlns:a="http://schemas.openxmlformats.org/drawingml/2006/main">
              <a:ext uri="{FF2B5EF4-FFF2-40B4-BE49-F238E27FC236}">
                <a16:creationId xmlns:a16="http://schemas.microsoft.com/office/drawing/2014/main" id="{E598980E-8EBB-4C4D-B5AF-50F1F361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8548480"/>
            <a:ext cx="2304288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Population-level IG profiles</a:t>
            </a:r>
            <a:endParaRPr sz="1100"/>
          </a:p>
        </p:txBody>
      </p:sp>
      <p:sp>
        <p:nvSpPr>
          <p:cNvPr id="84" name="Shape 82">
            <a:extLst xmlns:a="http://schemas.openxmlformats.org/drawingml/2006/main">
              <a:ext uri="{FF2B5EF4-FFF2-40B4-BE49-F238E27FC236}">
                <a16:creationId xmlns:a16="http://schemas.microsoft.com/office/drawing/2014/main" id="{63D3C71C-66AE-4A24-84B3-9CB5A0733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857" y="8567926"/>
            <a:ext cx="1861458" cy="335769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DEAE5"/>
          </a:solidFill>
          <a:ln xmlns:a="http://schemas.openxmlformats.org/drawingml/2006/main" w="8890">
            <a:solidFill>
              <a:srgbClr val="8B25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5" name="Text 83">
            <a:extLst xmlns:a="http://schemas.openxmlformats.org/drawingml/2006/main">
              <a:ext uri="{FF2B5EF4-FFF2-40B4-BE49-F238E27FC236}">
                <a16:creationId xmlns:a16="http://schemas.microsoft.com/office/drawing/2014/main" id="{1EBAA903-F576-475F-A435-3BFD9A7C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8548480"/>
            <a:ext cx="288036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8B2500"/>
                </a:solidFill>
                <a:latin typeface="Arial"/>
                <a:ea typeface="Arial"/>
                <a:cs typeface="Arial"/>
              </a:rPr>
              <a:t>P(Pass) / P(Fail)</a:t>
            </a:r>
            <a:endParaRPr sz="1100"/>
          </a:p>
        </p:txBody>
      </p:sp>
      <p:sp>
        <p:nvSpPr>
          <p:cNvPr id="86" name="Shape 84">
            <a:extLst xmlns:a="http://schemas.openxmlformats.org/drawingml/2006/main">
              <a:ext uri="{FF2B5EF4-FFF2-40B4-BE49-F238E27FC236}">
                <a16:creationId xmlns:a16="http://schemas.microsoft.com/office/drawing/2014/main" id="{402ED5BC-3E38-48ED-BEAB-F2A38A1C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8548480"/>
            <a:ext cx="2185416" cy="36576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0FFF5"/>
          </a:solidFill>
          <a:ln xmlns:a="http://schemas.openxmlformats.org/drawingml/2006/main" w="8890">
            <a:solidFill>
              <a:srgbClr val="0B6E5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7" name="Text 85">
            <a:extLst xmlns:a="http://schemas.openxmlformats.org/drawingml/2006/main">
              <a:ext uri="{FF2B5EF4-FFF2-40B4-BE49-F238E27FC236}">
                <a16:creationId xmlns:a16="http://schemas.microsoft.com/office/drawing/2014/main" id="{B1F469FC-67C9-4348-847D-5434D5B9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8548480"/>
            <a:ext cx="218541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Per-antibody outputs</a:t>
            </a:r>
            <a:endParaRPr sz="1100"/>
          </a:p>
        </p:txBody>
      </p:sp>
      <p:sp>
        <p:nvSpPr>
          <p:cNvPr id="89" name="Text 87">
            <a:extLst xmlns:a="http://schemas.openxmlformats.org/drawingml/2006/main">
              <a:ext uri="{FF2B5EF4-FFF2-40B4-BE49-F238E27FC236}">
                <a16:creationId xmlns:a16="http://schemas.microsoft.com/office/drawing/2014/main" id="{AC5979A3-E8F9-4A66-9F62-832E07F90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060544"/>
            <a:ext cx="2304288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Bar chart: top 60 positions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(VH+VL: purple  ·  HCDR3: teal)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HCDR3 residue heatmap (1×25)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 TIFF  ·  auto-generated</a:t>
            </a:r>
            <a:endParaRPr sz="900"/>
          </a:p>
        </p:txBody>
      </p:sp>
      <p:sp>
        <p:nvSpPr>
          <p:cNvPr id="91" name="Text 89">
            <a:extLst xmlns:a="http://schemas.openxmlformats.org/drawingml/2006/main">
              <a:ext uri="{FF2B5EF4-FFF2-40B4-BE49-F238E27FC236}">
                <a16:creationId xmlns:a16="http://schemas.microsoft.com/office/drawing/2014/main" id="{CE89B2E0-8104-481D-AE7F-59FB49294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9060544"/>
            <a:ext cx="28803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Configured decision threshold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Checkpoint-specific value used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Scores CSV exported</a:t>
            </a:r>
            <a:endParaRPr sz="900"/>
          </a:p>
        </p:txBody>
      </p:sp>
      <p:sp>
        <p:nvSpPr>
          <p:cNvPr id="93" name="Text 91">
            <a:extLst xmlns:a="http://schemas.openxmlformats.org/drawingml/2006/main">
              <a:ext uri="{FF2B5EF4-FFF2-40B4-BE49-F238E27FC236}">
                <a16:creationId xmlns:a16="http://schemas.microsoft.com/office/drawing/2014/main" id="{1FAA9C24-D658-4A68-9D0F-5E84D3CB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9060544"/>
            <a:ext cx="2185416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Waterfall plots</a:t>
            </a: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 (300 DPI TIFF)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IG attribution per residue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CDR3 mutagenesis heatmap</a:t>
            </a:r>
            <a:endParaRPr sz="900"/>
          </a:p>
          <a:p xmlns:a="http://schemas.openxmlformats.org/drawingml/2006/main">
            <a:pPr marL="0" indent="0" algn="ctr">
              <a:buNone/>
            </a:pPr>
            <a:r>
              <a:rPr sz="900">
                <a:solidFill>
                  <a:srgbClr val="333333"/>
                </a:solidFill>
                <a:latin typeface="Arial"/>
                <a:ea typeface="Arial"/>
                <a:cs typeface="Arial"/>
              </a:rPr>
              <a:t>selected scored antibodies</a:t>
            </a:r>
            <a:endParaRPr sz="900"/>
          </a:p>
        </p:txBody>
      </p:sp>
      <p:sp>
        <p:nvSpPr>
          <p:cNvPr id="94" name="Shape 92">
            <a:extLst xmlns:a="http://schemas.openxmlformats.org/drawingml/2006/main">
              <a:ext uri="{FF2B5EF4-FFF2-40B4-BE49-F238E27FC236}">
                <a16:creationId xmlns:a16="http://schemas.microsoft.com/office/drawing/2014/main" id="{E7D80EBA-87CD-4E6B-85A7-DE5FA77C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413" y="9709768"/>
            <a:ext cx="7050024" cy="431963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6350">
            <a:solidFill>
              <a:srgbClr val="2979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5" name="Text 93">
            <a:extLst xmlns:a="http://schemas.openxmlformats.org/drawingml/2006/main">
              <a:ext uri="{FF2B5EF4-FFF2-40B4-BE49-F238E27FC236}">
                <a16:creationId xmlns:a16="http://schemas.microsoft.com/office/drawing/2014/main" id="{A646BF3D-4400-41B3-97ED-D95E0B91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" y="9709768"/>
            <a:ext cx="6793992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1A5276"/>
                </a:solidFill>
                <a:latin typeface="Arial"/>
                <a:ea typeface="Arial"/>
                <a:cs typeface="Arial"/>
              </a:rPr>
              <a:t>⚙  Reported checkpoints: 4 layers · hidden_dim 128 · 8 heads · FFN 512 · dropout 0.38  ·  IG: uniform AA reference · 200 steps  ·  all parameters configurable in YAML</a:t>
            </a:r>
            <a:endParaRPr sz="900"/>
          </a:p>
        </p:txBody>
      </p:sp>
      <p:sp>
        <p:nvSpPr>
          <p:cNvPr id="96" name="Text 94">
            <a:extLst xmlns:a="http://schemas.openxmlformats.org/drawingml/2006/main">
              <a:ext uri="{FF2B5EF4-FFF2-40B4-BE49-F238E27FC236}">
                <a16:creationId xmlns:a16="http://schemas.microsoft.com/office/drawing/2014/main" id="{5AA87AC5-80F0-4AD8-AE46-2A6431F0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0516" y="10465158"/>
            <a:ext cx="2258568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50" i="1">
                <a:solidFill>
                  <a:srgbClr val="888888"/>
                </a:solidFill>
                <a:latin typeface="Arial"/>
                <a:ea typeface="Arial"/>
                <a:cs typeface="Arial"/>
              </a:rPr>
              <a:t>Legend on next page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2108161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CDD59F1-53CF-4758-8A73-BAD7D502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02336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7085802-1508-4745-823A-484A39C5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1440"/>
            <a:ext cx="7013448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Supplementary Fig. 4  |  Legend</a:t>
            </a:r>
            <a:endParaRPr sz="12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3260E5D-C058-405A-98B6-3AA7A84EC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93776"/>
            <a:ext cx="7013448" cy="9966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sz="10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(a) Forward pass. 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Branch 1 encodes the concatenated VH + VL sequence as a one-hot position × amino acid matrix (270 × 20 = 5,400 dimensions). Branch 2 independently encodes HCDR3 (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25 × 20 = 500 dimensions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). Both branches apply sinusoidal positional encoding and independent Pre-LN Transformer encoder stacks, then mean-pool to x_pooled and cdr3_pooled respectively. CDR3-guided cross-attention integrates the branches: cdr3_pooled provides the query (Q) and the full VH+VL sequence provides keys and values (K, V). An x_pooled bypass (dotted line) feeds x_pooled directly to the concatenation step in parallel with the cross-attention output. The concatenated (2H)-dimensional vector feeds a classification head (LayerNorm → Dropout → Linear(2H → 2)) producing P(Pass) and P(Fail) via softmax. 
</a:t>
            </a:r>
            <a:r>
              <a:rPr sz="10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(b) Integrated Gradients attribution. 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Integrated Gradients (IG) computes the path integral of gradients 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from a padding-safe, length-matched uniform amino-acid reference to the actual input along a straight line, approximated with 200 integration steps; attribution target = class 1 (P(Pass)). The reference assigns 1/20 to every amino-acid channel at observed positions and zero only at true padding positions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. The coral arrow entering section b at the centre denotes P(Pass) as the IG attribution target. Gradients branch left (∂F/∂x₁, purple) to Branch 1 and right (∂F/∂x₂, teal) to Branch 2, propagating backward (upward arrows) through their respective encoder stacks. Summing attributions over the amino acid dimension yields a VH+VL position importance vector (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270 raw sequence positions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, purple box) and an HCDR3 position importance vector (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25 raw sequence positions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, teal box). 
</a:t>
            </a:r>
            <a:r>
              <a:rPr sz="10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(c) Outputs. 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Classification: P(Pass) scores thresholded at the configured, checkpoint-specific decision threshold.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 Population-level IG profiles (fed by VH+VL attribution vector): ranked bar chart of the top 60 positions with VH+VL positions coloured purple and HCDR3 positions teal, and a 1 × CDR3_length HCDR3 residue importance heatmap accumulated as mean absolute IG attributions across all antibodies. Per-antibody outputs (fed by HCDR3 attribution vector): individual IG waterfall plots and CDR3 in silico mutagenesis heatmaps assembled into PowerPoint files (300 DPI TIFF). 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These outputs are generated by the dedicated delphi_interpretability.py workflow; exact internal and public reproduction commands are documented in paper/documentation/IG_REPRODUCTION.md.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 
</a:t>
            </a:r>
            <a:r>
              <a:rPr sz="1050" b="1">
                <a:solidFill>
                  <a:srgbClr val="222222"/>
                </a:solidFill>
                <a:latin typeface="Arial"/>
                <a:ea typeface="Arial"/>
                <a:cs typeface="Arial"/>
              </a:rPr>
              <a:t>*The reported PSR and SEC checkpoints use four layers, hidden_dim 128, eight attention heads, FFN 512, dropout 0.38, and a maximum HCDR3 length of 25. Parameters remain configurable through YAML.</a:t>
            </a:r>
            <a:r>
              <a:rPr sz="1050">
                <a:solidFill>
                  <a:srgbClr val="222222"/>
                </a:solidFill>
                <a:latin typeface="Arial"/>
                <a:ea typeface="Arial"/>
                <a:cs typeface="Arial"/>
              </a:rPr>
              <a:t> SGKF, stratified group k-fold; PE, positional encoding; Pre-LN, pre-layer normalisation; IG, Integrated Gradients; PPT, PowerPoint.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1896496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A0E397C-3665-4AEF-B267-EC71C6A6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20040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74973FF-C6F3-4B89-8CBD-A939B354D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4864"/>
            <a:ext cx="7013448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Supplementary Table 1  |  MLAbDev architecture comparison</a:t>
            </a:r>
            <a:endParaRPr sz="11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562F877F-FE9A-4197-9940-DD4DA220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38328"/>
            <a:ext cx="701344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 i="1">
                <a:solidFill>
                  <a:srgbClr val="555555"/>
                </a:solidFill>
                <a:latin typeface="Arial"/>
                <a:ea typeface="Arial"/>
                <a:cs typeface="Arial"/>
              </a:rPr>
              <a:t>All models share a consistent public python API  ·  YAML-configurable  ·  auto_scale from data</a:t>
            </a:r>
            <a:endParaRPr sz="850"/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BE250E2E-F34E-4F53-8BC3-DCB46175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94360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5A"/>
          </a:solidFill>
          <a:ln xmlns:a="http://schemas.openxmlformats.org/drawingml/2006/main" w="1270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3BD723C-DF4E-486F-93E6-B98F8099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9436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  <a:endParaRPr sz="9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A0F3C5B0-1CD5-47DE-AC4C-3793D9E5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94360"/>
            <a:ext cx="146304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5A"/>
          </a:solidFill>
          <a:ln xmlns:a="http://schemas.openxmlformats.org/drawingml/2006/main" w="1270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A105FCD-B16B-4C96-8A0F-0A77E1ABA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594360"/>
            <a:ext cx="14630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Input encoding</a:t>
            </a:r>
            <a:endParaRPr sz="90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38A308A-36B8-486C-9FE9-58B9FF35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94360"/>
            <a:ext cx="1645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5A"/>
          </a:solidFill>
          <a:ln xmlns:a="http://schemas.openxmlformats.org/drawingml/2006/main" w="1270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028668B-6D6C-433A-866A-7541B8DA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9436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Key mechanism</a:t>
            </a:r>
            <a:endParaRPr sz="9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E1C53A75-B5BC-4875-B26B-380E83F7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594360"/>
            <a:ext cx="164592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5A"/>
          </a:solidFill>
          <a:ln xmlns:a="http://schemas.openxmlformats.org/drawingml/2006/main" w="1270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7F706F70-0C48-491A-8032-D3DF5DAC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594360"/>
            <a:ext cx="16459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Interpretability</a:t>
            </a:r>
            <a:endParaRPr sz="90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74C3B12B-C417-41E6-A56F-0CC9DFB81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94360"/>
            <a:ext cx="10972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B5A"/>
          </a:solidFill>
          <a:ln xmlns:a="http://schemas.openxmlformats.org/drawingml/2006/main" w="1270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1B46EBC-1FE8-4523-8466-2E0E2EEB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94360"/>
            <a:ext cx="10972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Regression</a:t>
            </a:r>
            <a:endParaRPr sz="9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27DB4E2F-DF2C-47E4-ADDC-F6E4E364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960120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DFB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4C3B7E0-D561-4910-A400-DD1756AE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996696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5C4BAD"/>
                </a:solidFill>
                <a:latin typeface="Arial"/>
                <a:ea typeface="Arial"/>
                <a:cs typeface="Arial"/>
              </a:rPr>
              <a:t>TransformerLM</a:t>
            </a:r>
            <a:endParaRPr sz="900"/>
          </a:p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BB480C6-6D20-4D4E-8F76-EB5C2AFC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960120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A2CAC61-2F61-4C03-AF5E-D0C596AC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" y="996696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PLM embedding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480–1,024-dim</a:t>
            </a:r>
            <a:endParaRPr sz="85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D05F85FF-0B0A-471F-A063-75E69EA76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960120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127CF883-FD1E-48AE-A0AD-A5AD9588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996696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2-token Pre-LN Transformer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hidden=128  batch=32  lr=1e-5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auto: dropout, epochs</a:t>
            </a:r>
            <a:endParaRPr sz="850"/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2BD1E63-1CE3-4E6D-9505-E2ECD6B5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960120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C34BFFA8-D728-4AB2-8260-9616FDC3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996696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CDR3 mutagenesis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hidden state CSV export</a:t>
            </a:r>
            <a:endParaRPr sz="85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95022DC2-2DC1-4960-9F93-FFAD6A8E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960120"/>
            <a:ext cx="10972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9F097AC-292C-4D73-B1F8-40B8F8CF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996696"/>
            <a:ext cx="98755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No</a:t>
            </a:r>
            <a:endParaRPr sz="850"/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F808A4EF-BC9C-4F26-B88C-35C2D65D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1764792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3EE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E19E9CFA-A229-417E-B1D6-F1B5FBB9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1801368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0B6E56"/>
                </a:solidFill>
                <a:latin typeface="Arial"/>
                <a:ea typeface="Arial"/>
                <a:cs typeface="Arial"/>
              </a:rPr>
              <a:t>CNN</a:t>
            </a:r>
            <a:endParaRPr sz="9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53B0DB48-E207-4144-AE32-820EDFCB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764792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0D50695E-201B-46B3-AD49-15F34C82A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" y="1801368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PLM embedding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480–1,024-dim</a:t>
            </a:r>
            <a:endParaRPr sz="850"/>
          </a:p>
        </p:txBody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D99B7448-9D15-43BC-ACD0-0E313226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764792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6B56E31E-F99F-4C3A-8079-C79F5F448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1801368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Dilated residual blocks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BatchNorm · AdaptiveMaxPool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kernel_size=5</a:t>
            </a:r>
            <a:endParaRPr sz="85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78498A1-1B26-4D7E-9124-CC20F9CF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1764792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DB60E7D-3329-4AB3-A8A6-907404CB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1801368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CDR3 mutagenesis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hidden state CSV export</a:t>
            </a:r>
            <a:endParaRPr sz="850"/>
          </a:p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3C1D3E9B-3D91-4AD5-92A7-1BD0CE84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64792"/>
            <a:ext cx="10972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2CAF926-4997-4318-804A-150BFA9B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1801368"/>
            <a:ext cx="98755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No</a:t>
            </a:r>
            <a:endParaRPr sz="85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AD75B21B-1770-461F-B584-8A770B81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2569464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F0D7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50A48F0-91CB-44E3-8BA0-20B21194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2606040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8C5200"/>
                </a:solidFill>
                <a:latin typeface="Arial"/>
                <a:ea typeface="Arial"/>
                <a:cs typeface="Arial"/>
              </a:rPr>
              <a:t>TransformerOneHot</a:t>
            </a:r>
            <a:endParaRPr sz="900"/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D1D21877-9F50-4A87-8B40-870886DAE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569464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36">
            <a:extLst xmlns:a="http://schemas.openxmlformats.org/drawingml/2006/main">
              <a:ext uri="{FF2B5EF4-FFF2-40B4-BE49-F238E27FC236}">
                <a16:creationId xmlns:a16="http://schemas.microsoft.com/office/drawing/2014/main" id="{A2622D97-3FEF-4BDC-BD17-621323209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" y="2606040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VH+VL + HCDR3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one-hot  (no PLM)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5,400 + 600 dims</a:t>
            </a:r>
            <a:endParaRPr sz="850"/>
          </a:p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8D6E334C-34A1-4832-AA77-60B901142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569464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ext 38">
            <a:extLst xmlns:a="http://schemas.openxmlformats.org/drawingml/2006/main">
              <a:ext uri="{FF2B5EF4-FFF2-40B4-BE49-F238E27FC236}">
                <a16:creationId xmlns:a16="http://schemas.microsoft.com/office/drawing/2014/main" id="{22E858EB-A378-4AD5-ADED-F5A0CEF7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2606040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CDR3-guided cross-attention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dual-branch Pre-LN Transformer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auto: N, hidden, dropout</a:t>
            </a:r>
            <a:endParaRPr sz="850"/>
          </a:p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F21A1086-16D6-45F9-9CDD-5CDB05F7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569464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63CCB201-86C4-47C6-A97D-D5604A248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2606040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Integrated Gradients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position-resolved (270+30)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CDR3 mutagenesis</a:t>
            </a:r>
            <a:endParaRPr sz="850"/>
          </a:p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B3203DC1-2A73-49C9-A014-C939582D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569464"/>
            <a:ext cx="10972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Text 42">
            <a:extLst xmlns:a="http://schemas.openxmlformats.org/drawingml/2006/main">
              <a:ext uri="{FF2B5EF4-FFF2-40B4-BE49-F238E27FC236}">
                <a16:creationId xmlns:a16="http://schemas.microsoft.com/office/drawing/2014/main" id="{DB9FFB05-757D-4895-85CC-BC4A0F4D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2606040"/>
            <a:ext cx="98755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No</a:t>
            </a:r>
            <a:endParaRPr sz="850"/>
          </a:p>
        </p:txBody>
      </p:sp>
      <p:sp>
        <p:nvSpPr>
          <p:cNvPr id="45" name="Shape 43">
            <a:extLst xmlns:a="http://schemas.openxmlformats.org/drawingml/2006/main">
              <a:ext uri="{FF2B5EF4-FFF2-40B4-BE49-F238E27FC236}">
                <a16:creationId xmlns:a16="http://schemas.microsoft.com/office/drawing/2014/main" id="{21A11E79-2351-428F-AC73-02A1D790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3374136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96E117F8-BB28-47D4-A951-222EE852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3410712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4A4A4A"/>
                </a:solidFill>
                <a:latin typeface="Arial"/>
                <a:ea typeface="Arial"/>
                <a:cs typeface="Arial"/>
              </a:rPr>
              <a:t>Random Forest</a:t>
            </a:r>
            <a:endParaRPr sz="900"/>
          </a:p>
        </p:txBody>
      </p:sp>
      <p:sp>
        <p:nvSpPr>
          <p:cNvPr id="47" name="Shape 45">
            <a:extLst xmlns:a="http://schemas.openxmlformats.org/drawingml/2006/main">
              <a:ext uri="{FF2B5EF4-FFF2-40B4-BE49-F238E27FC236}">
                <a16:creationId xmlns:a16="http://schemas.microsoft.com/office/drawing/2014/main" id="{0FA40223-74D7-46D1-9463-E2FBBA24F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374136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Text 46">
            <a:extLst xmlns:a="http://schemas.openxmlformats.org/drawingml/2006/main">
              <a:ext uri="{FF2B5EF4-FFF2-40B4-BE49-F238E27FC236}">
                <a16:creationId xmlns:a16="http://schemas.microsoft.com/office/drawing/2014/main" id="{939F4E98-62E5-4A22-83B0-0286A1B9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" y="3410712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k-mer · biophysical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one-hot · PLM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auto-detected</a:t>
            </a:r>
            <a:endParaRPr sz="850"/>
          </a:p>
        </p:txBody>
      </p:sp>
      <p:sp>
        <p:nvSpPr>
          <p:cNvPr id="49" name="Shape 47">
            <a:extLst xmlns:a="http://schemas.openxmlformats.org/drawingml/2006/main">
              <a:ext uri="{FF2B5EF4-FFF2-40B4-BE49-F238E27FC236}">
                <a16:creationId xmlns:a16="http://schemas.microsoft.com/office/drawing/2014/main" id="{DA848E8F-558F-4C48-B940-AA75B5D2E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374136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Text 48">
            <a:extLst xmlns:a="http://schemas.openxmlformats.org/drawingml/2006/main">
              <a:ext uri="{FF2B5EF4-FFF2-40B4-BE49-F238E27FC236}">
                <a16:creationId xmlns:a16="http://schemas.microsoft.com/office/drawing/2014/main" id="{9DB954F2-F2A8-4BD5-BBC8-D05C70E5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3410712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1,000 trees · OOB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FeatureBuilder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HCDR3-stratified SGKF</a:t>
            </a:r>
            <a:endParaRPr sz="850"/>
          </a:p>
        </p:txBody>
      </p:sp>
      <p:sp>
        <p:nvSpPr>
          <p:cNvPr id="51" name="Shape 49">
            <a:extLst xmlns:a="http://schemas.openxmlformats.org/drawingml/2006/main">
              <a:ext uri="{FF2B5EF4-FFF2-40B4-BE49-F238E27FC236}">
                <a16:creationId xmlns:a16="http://schemas.microsoft.com/office/drawing/2014/main" id="{0F3539A0-C582-4E74-AEEF-A5EA562F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3374136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Text 50">
            <a:extLst xmlns:a="http://schemas.openxmlformats.org/drawingml/2006/main">
              <a:ext uri="{FF2B5EF4-FFF2-40B4-BE49-F238E27FC236}">
                <a16:creationId xmlns:a16="http://schemas.microsoft.com/office/drawing/2014/main" id="{D311FFDC-34C0-4974-8D5F-4871DB04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3410712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SHAP TreeExplainer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waterfall PPT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CDR3 mutagenesis</a:t>
            </a:r>
            <a:endParaRPr sz="850"/>
          </a:p>
        </p:txBody>
      </p:sp>
      <p:sp>
        <p:nvSpPr>
          <p:cNvPr id="53" name="Shape 51">
            <a:extLst xmlns:a="http://schemas.openxmlformats.org/drawingml/2006/main">
              <a:ext uri="{FF2B5EF4-FFF2-40B4-BE49-F238E27FC236}">
                <a16:creationId xmlns:a16="http://schemas.microsoft.com/office/drawing/2014/main" id="{F5D61BF8-82B6-4859-871C-D172618A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374136"/>
            <a:ext cx="10972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Text 52">
            <a:extLst xmlns:a="http://schemas.openxmlformats.org/drawingml/2006/main">
              <a:ext uri="{FF2B5EF4-FFF2-40B4-BE49-F238E27FC236}">
                <a16:creationId xmlns:a16="http://schemas.microsoft.com/office/drawing/2014/main" id="{6FCC4869-951F-4C76-B38B-13EE095E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3410712"/>
            <a:ext cx="98755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Yes</a:t>
            </a:r>
            <a:endParaRPr sz="850"/>
          </a:p>
        </p:txBody>
      </p:sp>
      <p:sp>
        <p:nvSpPr>
          <p:cNvPr id="55" name="Shape 53">
            <a:extLst xmlns:a="http://schemas.openxmlformats.org/drawingml/2006/main">
              <a:ext uri="{FF2B5EF4-FFF2-40B4-BE49-F238E27FC236}">
                <a16:creationId xmlns:a16="http://schemas.microsoft.com/office/drawing/2014/main" id="{999A45AC-61C6-4349-9DE9-1F8EE09EF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4178808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Text 54">
            <a:extLst xmlns:a="http://schemas.openxmlformats.org/drawingml/2006/main">
              <a:ext uri="{FF2B5EF4-FFF2-40B4-BE49-F238E27FC236}">
                <a16:creationId xmlns:a16="http://schemas.microsoft.com/office/drawing/2014/main" id="{5F3DD826-CB54-46C3-B94D-9FA484F7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" y="4215384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4A4A4A"/>
                </a:solidFill>
                <a:latin typeface="Arial"/>
                <a:ea typeface="Arial"/>
                <a:cs typeface="Arial"/>
              </a:rPr>
              <a:t>XGBoost</a:t>
            </a:r>
            <a:endParaRPr sz="900"/>
          </a:p>
        </p:txBody>
      </p:sp>
      <p:sp>
        <p:nvSpPr>
          <p:cNvPr id="57" name="Shape 55">
            <a:extLst xmlns:a="http://schemas.openxmlformats.org/drawingml/2006/main">
              <a:ext uri="{FF2B5EF4-FFF2-40B4-BE49-F238E27FC236}">
                <a16:creationId xmlns:a16="http://schemas.microsoft.com/office/drawing/2014/main" id="{77423CE0-9CE6-43EC-90F1-EB9E4A8B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178808"/>
            <a:ext cx="146304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Text 56">
            <a:extLst xmlns:a="http://schemas.openxmlformats.org/drawingml/2006/main">
              <a:ext uri="{FF2B5EF4-FFF2-40B4-BE49-F238E27FC236}">
                <a16:creationId xmlns:a16="http://schemas.microsoft.com/office/drawing/2014/main" id="{829BA609-3573-4952-8D09-BD349C44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2224" y="4215384"/>
            <a:ext cx="13533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k-mer · biophysical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one-hot · PLM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auto-detected</a:t>
            </a:r>
            <a:endParaRPr sz="850"/>
          </a:p>
        </p:txBody>
      </p:sp>
      <p:sp>
        <p:nvSpPr>
          <p:cNvPr id="59" name="Shape 57">
            <a:extLst xmlns:a="http://schemas.openxmlformats.org/drawingml/2006/main">
              <a:ext uri="{FF2B5EF4-FFF2-40B4-BE49-F238E27FC236}">
                <a16:creationId xmlns:a16="http://schemas.microsoft.com/office/drawing/2014/main" id="{A1FCC874-FE91-4BD4-BEEA-59A98D35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178808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Text 58">
            <a:extLst xmlns:a="http://schemas.openxmlformats.org/drawingml/2006/main">
              <a:ext uri="{FF2B5EF4-FFF2-40B4-BE49-F238E27FC236}">
                <a16:creationId xmlns:a16="http://schemas.microsoft.com/office/drawing/2014/main" id="{4BA80B4B-60B7-4B62-8C19-22981B2AC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5264" y="4215384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Gradient boosting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auto classification / regression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HCDR3-stratified SGKF</a:t>
            </a:r>
            <a:endParaRPr sz="850"/>
          </a:p>
        </p:txBody>
      </p:sp>
      <p:sp>
        <p:nvSpPr>
          <p:cNvPr id="61" name="Shape 59">
            <a:extLst xmlns:a="http://schemas.openxmlformats.org/drawingml/2006/main">
              <a:ext uri="{FF2B5EF4-FFF2-40B4-BE49-F238E27FC236}">
                <a16:creationId xmlns:a16="http://schemas.microsoft.com/office/drawing/2014/main" id="{407FB648-8C75-4CAE-ABF2-555ABA2C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4178808"/>
            <a:ext cx="164592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Text 60">
            <a:extLst xmlns:a="http://schemas.openxmlformats.org/drawingml/2006/main">
              <a:ext uri="{FF2B5EF4-FFF2-40B4-BE49-F238E27FC236}">
                <a16:creationId xmlns:a16="http://schemas.microsoft.com/office/drawing/2014/main" id="{E047240F-BF72-4157-A5F3-DEE35AF1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1184" y="4215384"/>
            <a:ext cx="153619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SHAP TreeExplainer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waterfall PPT</a:t>
            </a:r>
            <a:endParaRPr sz="850"/>
          </a:p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CDR3 mutagenesis</a:t>
            </a:r>
            <a:endParaRPr sz="850"/>
          </a:p>
        </p:txBody>
      </p:sp>
      <p:sp>
        <p:nvSpPr>
          <p:cNvPr id="63" name="Shape 61">
            <a:extLst xmlns:a="http://schemas.openxmlformats.org/drawingml/2006/main">
              <a:ext uri="{FF2B5EF4-FFF2-40B4-BE49-F238E27FC236}">
                <a16:creationId xmlns:a16="http://schemas.microsoft.com/office/drawing/2014/main" id="{1A0E3156-4BC5-4269-98CB-FF32B0082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178808"/>
            <a:ext cx="1097280" cy="8046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DDD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Text 62">
            <a:extLst xmlns:a="http://schemas.openxmlformats.org/drawingml/2006/main">
              <a:ext uri="{FF2B5EF4-FFF2-40B4-BE49-F238E27FC236}">
                <a16:creationId xmlns:a16="http://schemas.microsoft.com/office/drawing/2014/main" id="{76D0B246-F5C1-43EC-901C-55E0D7B1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7104" y="4215384"/>
            <a:ext cx="98755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50">
                <a:solidFill>
                  <a:srgbClr val="333333"/>
                </a:solidFill>
                <a:latin typeface="Arial"/>
                <a:ea typeface="Arial"/>
                <a:cs typeface="Arial"/>
              </a:rPr>
              <a:t>Yes</a:t>
            </a:r>
            <a:endParaRPr sz="850"/>
          </a:p>
        </p:txBody>
      </p:sp>
      <p:sp>
        <p:nvSpPr>
          <p:cNvPr id="65" name="Shape 63">
            <a:extLst xmlns:a="http://schemas.openxmlformats.org/drawingml/2006/main">
              <a:ext uri="{FF2B5EF4-FFF2-40B4-BE49-F238E27FC236}">
                <a16:creationId xmlns:a16="http://schemas.microsoft.com/office/drawing/2014/main" id="{AF9DD271-8217-41F2-ABB7-9C63971B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5129784"/>
            <a:ext cx="7013448" cy="841248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7620">
            <a:solidFill>
              <a:srgbClr val="2979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Text 64">
            <a:extLst xmlns:a="http://schemas.openxmlformats.org/drawingml/2006/main">
              <a:ext uri="{FF2B5EF4-FFF2-40B4-BE49-F238E27FC236}">
                <a16:creationId xmlns:a16="http://schemas.microsoft.com/office/drawing/2014/main" id="{DD3DC760-774D-4046-A2D4-FCF32F1D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184648"/>
            <a:ext cx="6830568" cy="7498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1A5276"/>
                </a:solidFill>
                <a:latin typeface="Arial"/>
                <a:ea typeface="Arial"/>
                <a:cs typeface="Arial"/>
              </a:rPr>
              <a:t>⚙  All architectures: YAML-configurable without code modification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auto_scale_config() / auto_detect_config(): hidden_dim, dropout, batch, epochs, lr  from  n_samples × embedding_dim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Priority: YAML override  &gt;  auto_scale  &gt;  built-in defaults  |  YAML values applied as hard ceilings over auto-scaled values</a:t>
            </a:r>
            <a:endParaRPr sz="800"/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A5276"/>
                </a:solidFill>
                <a:latin typeface="Arial"/>
                <a:ea typeface="Arial"/>
                <a:cs typeface="Arial"/>
              </a:rPr>
              <a:t>Configurable: loss (ce/weighted_ce/focal/label_smooth)  ·  threshold (Youden/F2/cost matrix)  ·  SHAP top_n  ·  mutagenesis N  ·  DPI  ·  PPT toggle</a:t>
            </a:r>
            <a:endParaRPr sz="800"/>
          </a:p>
        </p:txBody>
      </p:sp>
      <p:sp>
        <p:nvSpPr>
          <p:cNvPr id="67" name="Shape 65">
            <a:extLst xmlns:a="http://schemas.openxmlformats.org/drawingml/2006/main">
              <a:ext uri="{FF2B5EF4-FFF2-40B4-BE49-F238E27FC236}">
                <a16:creationId xmlns:a16="http://schemas.microsoft.com/office/drawing/2014/main" id="{C2E7A457-33F4-4A27-9E3B-D5FD4507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099048"/>
            <a:ext cx="7013448" cy="658368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C2B5A"/>
          </a:solidFill>
          <a:ln xmlns:a="http://schemas.openxmlformats.org/drawingml/2006/main" w="12700">
            <a:solidFill>
              <a:srgbClr val="1C2B5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Text 66">
            <a:extLst xmlns:a="http://schemas.openxmlformats.org/drawingml/2006/main">
              <a:ext uri="{FF2B5EF4-FFF2-40B4-BE49-F238E27FC236}">
                <a16:creationId xmlns:a16="http://schemas.microsoft.com/office/drawing/2014/main" id="{D6D975C5-2A0E-4E55-8D5D-60AD8418C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8" y="6153912"/>
            <a:ext cx="6793992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Consistent public API: </a:t>
            </a:r>
            <a:r>
              <a:rPr sz="900">
                <a:solidFill>
                  <a:srgbClr val="FFFFFF"/>
                </a:solidFill>
                <a:latin typeface="Arial"/>
                <a:ea typeface="Arial"/>
                <a:cs typeface="Arial"/>
              </a:rPr>
              <a:t>train()  ·  kfold_validation()  ·  predict_proba()  ·  predict()  ·  save()  ·  load()
HCDR3-stratified group cross-validation  ·  Youden threshold embedded in checkpoint  ·  hidden-state CSV export  ·  PowerPoint interpretability output (300 DPI TIFF)</a:t>
            </a:r>
            <a:endParaRPr sz="900"/>
          </a:p>
        </p:txBody>
      </p:sp>
      <p:sp>
        <p:nvSpPr>
          <p:cNvPr id="69" name="Shape 67">
            <a:extLst xmlns:a="http://schemas.openxmlformats.org/drawingml/2006/main">
              <a:ext uri="{FF2B5EF4-FFF2-40B4-BE49-F238E27FC236}">
                <a16:creationId xmlns:a16="http://schemas.microsoft.com/office/drawing/2014/main" id="{1FD8B6B5-6AB3-4F8F-9C85-81824380E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6976872"/>
            <a:ext cx="701344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BBBBB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Text 68">
            <a:extLst xmlns:a="http://schemas.openxmlformats.org/drawingml/2006/main">
              <a:ext uri="{FF2B5EF4-FFF2-40B4-BE49-F238E27FC236}">
                <a16:creationId xmlns:a16="http://schemas.microsoft.com/office/drawing/2014/main" id="{4A29600B-7DE0-4A22-A22F-8F5F3CEE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" y="7086600"/>
            <a:ext cx="7013448" cy="3511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spcAft>
                <a:spcPts val="300"/>
              </a:spcAft>
              <a:buNone/>
            </a:pPr>
            <a:r>
              <a:rPr sz="850">
                <a:solidFill>
                  <a:srgbClr val="222222"/>
                </a:solidFill>
                <a:latin typeface="Arial"/>
                <a:ea typeface="Arial"/>
                <a:cs typeface="Arial"/>
              </a:rPr>
              <a:t>Comparison of the four ML architectures implemented in MLAbDev. All architectures share a consistent public API and are configurable via YAML without code modification. auto_scale_config() (neural architectures) and auto_detect_config() (tree architectures) scale hyperparameters from dataset size (n_norm axis) and data density (d_norm = samples per embedding dimension axis). YAML values are applied as hard ceilings over auto-scaled defaults. Random Forest and XGBoost additionally support regression mode for continuous biophysical targets (e.g. PSR normalised score, SEC monomer percentage); task is detected automatically from the label distribution. HCDR3-stratified group cross-validation (Levenshtein 80% identity clusters) is used throughout to prevent sequence leakage. SGKF, stratified group k-fold; PLM, protein language model; SHAP, SHapley Additive exPlanations; IG, Integrated Gradients; PPT, PowerPoint; DPI, dots per inch.</a:t>
            </a:r>
            <a:endParaRPr sz="850"/>
          </a:p>
        </p:txBody>
      </p:sp>
    </p:spTree>
    <p:extLst>
      <p:ext uri="{BB962C8B-B14F-4D97-AF65-F5344CB8AC3E}">
        <p14:creationId xmlns:p14="http://schemas.microsoft.com/office/powerpoint/2010/main" val="171458437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2026-09-03T17:46:53.9360000Z</dcterms:created>
  <dcterms:modified xsi:type="dcterms:W3CDTF">2026-09-03T17:46:53.9360000Z</dcterms:modified>
</coreProperties>
</file>