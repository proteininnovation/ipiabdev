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344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TransformerOneHot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6EAF8"/>
                </a:solidFill>
              </a:rPr>
              <a:t>Dual-Branch Transformer for Antibody Developability Prediction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BCC"/>
                </a:solidFill>
              </a:rPr>
              <a:t>Architecture  ·  Hyperparameters  ·  </a:t>
            </a:r>
            <a:r>
              <a:rPr lang="en-US" sz="1600" dirty="0">
                <a:solidFill>
                  <a:srgbClr val="FFD700"/>
                </a:solidFill>
              </a:rPr>
              <a:t>Integrated Gradients Interpretation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9AA"/>
                </a:solidFill>
              </a:rPr>
              <a:t>Supplementary Methods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6EAF8"/>
                </a:solidFill>
              </a:rPr>
              <a:t>Dual-branch transformer with CDR3-guided cross-attention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Architecture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</a:rPr>
              <a:t>IPI Antibody Developability Platform — TransformerOneHot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13232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Input: One-Hot Encoding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</a:rPr>
              <a:t>IPI Antibody Developability Platform — TransformerOneHot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2743200" cy="34747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822960"/>
            <a:ext cx="2011680" cy="34747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822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Max length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822960"/>
            <a:ext cx="1828800" cy="34747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822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Matrix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822960"/>
            <a:ext cx="1645920" cy="34747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8229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Flat dims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170432"/>
            <a:ext cx="2743200" cy="329184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1704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VH + VL  (Branch 1)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0" y="1170432"/>
            <a:ext cx="2011680" cy="329184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0" y="117043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135 + 135 = 270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20640" y="1170432"/>
            <a:ext cx="1828800" cy="329184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0" y="1170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270 × 20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1170432"/>
            <a:ext cx="1645920" cy="329184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0" y="11704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5,400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1517904"/>
            <a:ext cx="27432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15179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HCDR3  (Branch 2)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08960" y="1517904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15179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25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1517904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151790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25 × 20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49440" y="1517904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15179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500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1865376"/>
            <a:ext cx="2743200" cy="329184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186537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Total per sample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08960" y="1865376"/>
            <a:ext cx="2011680" cy="329184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0" y="186537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—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20640" y="1865376"/>
            <a:ext cx="1828800" cy="329184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18653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295 × 20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49440" y="1865376"/>
            <a:ext cx="1645920" cy="329184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49440" y="18653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5,900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23957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Amino acid alphabet: ACDEFGHIKLMNPQRSTVWY  (20 characters)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2852928"/>
            <a:ext cx="8412480" cy="822960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28986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Key advantage: </a:t>
            </a:r>
            <a:r>
              <a:rPr lang="en-US" sz="1200" dirty="0">
                <a:solidFill>
                  <a:srgbClr val="555555"/>
                </a:solidFill>
              </a:rPr>
              <a:t>exact amino acid identity preserved at every position → </a:t>
            </a:r>
            <a:r>
              <a:rPr lang="en-US" sz="1200" b="1" dirty="0">
                <a:solidFill>
                  <a:srgbClr val="2E75B6"/>
                </a:solidFill>
              </a:rPr>
              <a:t>enables position-resolved Integrated Gradients attribution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Architecture Components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</a:rPr>
              <a:t>IPI Antibody Developability Platform — TransformerOneHot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143000"/>
          </a:xfrm>
          <a:prstGeom prst="rect">
            <a:avLst/>
          </a:prstGeom>
          <a:solidFill>
            <a:srgbClr val="D6EA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50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Linear Projection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20 → 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3441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Projects one-hot to hidden dim 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1143000"/>
          </a:xfrm>
          <a:prstGeom prst="rect">
            <a:avLst/>
          </a:prstGeom>
          <a:solidFill>
            <a:srgbClr val="F4ECF7"/>
          </a:solidFill>
          <a:ln w="1905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1762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</a:rPr>
              <a:t>Sinusoidal Pos Enc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PE(pos,2i)=sin(…)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6700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Injects position order into embeddings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4114800" cy="1143000"/>
          </a:xfrm>
          <a:prstGeom prst="rect">
            <a:avLst/>
          </a:prstGeom>
          <a:solidFill>
            <a:srgbClr val="E8F8F5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5021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</a:rPr>
              <a:t>TransformerEncoder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Pre-norm, L layers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9959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MHA + FFN + Dropout per layer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777240"/>
            <a:ext cx="4114800" cy="1143000"/>
          </a:xfrm>
          <a:prstGeom prst="rect">
            <a:avLst/>
          </a:prstGeom>
          <a:solidFill>
            <a:srgbClr val="FEF0E7"/>
          </a:solidFill>
          <a:ln w="19050">
            <a:solidFill>
              <a:srgbClr val="C659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850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5911"/>
                </a:solidFill>
              </a:rPr>
              <a:t>Masked Mean Pool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097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Σ(x·m)/Σ(m)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3441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Averages real tokens only — key for IG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103120"/>
            <a:ext cx="4114800" cy="1143000"/>
          </a:xfrm>
          <a:prstGeom prst="rect">
            <a:avLst/>
          </a:prstGeom>
          <a:solidFill>
            <a:srgbClr val="FDEDEC"/>
          </a:solidFill>
          <a:ln w="190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21762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2B21"/>
                </a:solidFill>
              </a:rPr>
              <a:t>Cross-Attention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Q=CDR3, K/V=VH+VL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6700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CDR3 residues query full chain context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429000"/>
            <a:ext cx="4114800" cy="1143000"/>
          </a:xfrm>
          <a:prstGeom prst="rect">
            <a:avLst/>
          </a:prstGeom>
          <a:solidFill>
            <a:srgbClr val="F5F7FA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5021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Classification Head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LayerNorm→Drop→Linear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9959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cat(x_pool, attn_pool) → 2 logits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Hyperparameters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6EAF8"/>
                </a:solidFill>
              </a:rPr>
              <a:t>Validated configurations for 11k and 245k antibody datasets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&amp; Training Hyperparameters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</a:rPr>
              <a:t>IPI Antibody Developability Platform — TransformerOneHot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2103120" cy="329184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71323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Parameter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713232"/>
            <a:ext cx="2103120" cy="329184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71323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 ≈ 11k  (PSR/SEC)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713232"/>
            <a:ext cx="2103120" cy="329184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71323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 ≈ 245k  (public)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713232"/>
            <a:ext cx="2834640" cy="329184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71323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1042416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" y="10424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hidden_dim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1042416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48840" y="10424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64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0" y="1042416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10424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256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1042416"/>
            <a:ext cx="283464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0424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head_dim = H / num_heads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1371600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" y="13716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num_heads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03120" y="1371600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48840" y="13716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06240" y="1371600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51960" y="13716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1371600"/>
            <a:ext cx="2834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137160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head_dim 16 → 32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1700784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" y="17007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num_layers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03120" y="1700784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148840" y="17007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2 per branch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6240" y="1700784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51960" y="17007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4 per branch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1700784"/>
            <a:ext cx="283464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55080" y="170078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max depth for 100–270 token seqs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2029968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" y="20299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dim_feedforward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03120" y="2029968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148840" y="20299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256  (4×H)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06240" y="2029968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51960" y="20299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1024  (4×H)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9360" y="2029968"/>
            <a:ext cx="2834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55080" y="20299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standard FFN ratio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2359152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" y="23591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dropout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03120" y="2359152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48840" y="23591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0.40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06240" y="2359152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251960" y="23591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0.15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09360" y="2359152"/>
            <a:ext cx="283464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55080" y="235915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scales inversely with 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0" y="2688336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" y="26883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weight_decay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103120" y="2688336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148840" y="26883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1 × 10⁻³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206240" y="2688336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251960" y="26883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1 × 10⁻⁴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09360" y="2688336"/>
            <a:ext cx="2834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355080" y="268833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L2 regularisation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3017520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720" y="30175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103120" y="3017520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148840" y="30175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2 × 10⁻⁴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06240" y="3017520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251960" y="30175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8 × 10⁻⁴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309360" y="3017520"/>
            <a:ext cx="283464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355080" y="30175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linear batch-size scaling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0" y="3346704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5720" y="3346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batch size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103120" y="3346704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148840" y="3346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64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206240" y="3346704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251960" y="3346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256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309360" y="3346704"/>
            <a:ext cx="2834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355080" y="33467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0" y="3675888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5720" y="36758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loss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103120" y="3675888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148840" y="36758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label_smooth ε=0.1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206240" y="3675888"/>
            <a:ext cx="210312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251960" y="36758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label_smooth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09360" y="3675888"/>
            <a:ext cx="2834640" cy="310896"/>
          </a:xfrm>
          <a:prstGeom prst="rect">
            <a:avLst/>
          </a:prstGeom>
          <a:solidFill>
            <a:srgbClr val="F5F7FA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355080" y="3675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balanced data (pos ≈ 50%)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0" y="4005072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5720" y="40050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</a:rPr>
              <a:t>total params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103120" y="4005072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148840" y="40050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~220k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206240" y="4005072"/>
            <a:ext cx="210312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251960" y="40050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</a:rPr>
              <a:t>~6.6M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309360" y="4005072"/>
            <a:ext cx="2834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355080" y="400507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</a:rPr>
              <a:t>20× and 27× params/sample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Training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6EAF8"/>
                </a:solidFill>
              </a:rPr>
              <a:t>CDR3-stratified K-fold · early stopping · threshold optimisation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K-Fold Cross-Validation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</a:rPr>
              <a:t>IPI Antibody Developability Platform — TransformerOneHot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13232"/>
            <a:ext cx="877824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43434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CDR3 clustering (θ=0.8) → StratifiedGroupKFold → no CDR3 leakage </a:t>
            </a:r>
            <a:r>
              <a:rPr lang="en-US" sz="1100" b="1" dirty="0">
                <a:solidFill>
                  <a:srgbClr val="555555"/>
                </a:solidFill>
              </a:rPr>
              <a:t>→ per-fold early stopping on val AUC → pooled OOF threshold optimisation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Integrated Gradients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6EAF8"/>
                </a:solidFill>
              </a:rPr>
              <a:t>Position-level attribution for sequence interpretation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Integrated Gradients — Method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</a:rPr>
              <a:t>IPI Antibody Developability Platform — TransformerOneHot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8412480" cy="1005840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</a:rPr>
              <a:t>IG_i(x) = (x_i − x'_i) × ∫[α=0→1] (∂F(x' + α(x−x')) / ∂x_i) dα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</a:rPr>
              <a:t>Baseline x' = all-zero one-hot matrix  (no amino acid present)    F = P(class 1 = developable)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74320" cy="2743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Approximation: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8288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n_steps = 200 Riemann steps  (50 for screening, 1000 for publication)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274320" cy="2743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Implementation: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3957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Captum IntegratedGradients with zero baseline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274320" cy="2743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9626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Aggregation: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96265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Sum |IG| across amino acid dim (axis −1) → scalar per position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29584"/>
            <a:ext cx="274320" cy="2743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529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Critical dependency: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52958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Masked mean pooling (FIX-A) ensures padding positions have zero gradient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274320" cy="2743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96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Outputs: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09651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Per-position importance (VH/VL) + HCDR3 residue heatmap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IG Attribution — Examples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</a:rPr>
              <a:t>IPI Antibody Developability Platform — TransformerOneHot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13232"/>
            <a:ext cx="877824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431596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</a:rPr>
              <a:t>(A) IG formula   (B) Per-position VH attribution   (C) HCDR3 residue importance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Output Files — Naming Convention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75B6"/>
                </a:solidFill>
              </a:rPr>
              <a:t>IPI Antibody Developability Platform — TransformerOneHot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" y="749808"/>
            <a:ext cx="8961120" cy="42062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" y="804672"/>
            <a:ext cx="18288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749808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kfold_{target}_{lm}_transformer_onehot{db}_k{K}.log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09360" y="74980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Full console log of each kfold run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" y="1202436"/>
            <a:ext cx="8961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" y="1257300"/>
            <a:ext cx="182880" cy="2926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202436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fold_preds_{target}_{lm}_transformer_onehot{db}_fold{N}_k{K}.csv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09360" y="120243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Per-fold OOF predictions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" y="1655064"/>
            <a:ext cx="8961120" cy="42062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" y="1709928"/>
            <a:ext cx="182880" cy="2926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1655064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loss_curve_{target}_{lm}_transformer_onehot{db}_fold{N}_k{K}.png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09360" y="165506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Val loss + val AUC per fold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" y="2107692"/>
            <a:ext cx="8961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" y="2162556"/>
            <a:ext cx="182880" cy="2926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107692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CV_ROC_{target}_{lm}_transformer_onehot{db}_k{K}.png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210769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Aggregate ROC curve across all folds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" y="2560320"/>
            <a:ext cx="8961120" cy="42062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" y="2615184"/>
            <a:ext cx="182880" cy="292608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560320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BEST_{target}_{lm}_transformer_onehot{db}_k{K}_fold{F}.pt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09360" y="256032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Best fold checkpoint (embedded threshold)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" y="3012948"/>
            <a:ext cx="8961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" y="3067812"/>
            <a:ext cx="182880" cy="29260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012948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thresh_report_{target}_{lm}_transformer_onehot{db}_k{K}.png/json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301294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Threshold analysis (all methods)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" y="3465576"/>
            <a:ext cx="8961120" cy="42062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1440" y="3520440"/>
            <a:ext cx="182880" cy="292608"/>
          </a:xfrm>
          <a:prstGeom prst="rect">
            <a:avLst/>
          </a:prstGeom>
          <a:solidFill>
            <a:srgbClr val="C659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465576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thresh_stability_{target}_{lm}_transformer_onehot{db}_k{K}_auto.png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09360" y="346557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Fold-level threshold consistency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" y="3918204"/>
            <a:ext cx="89611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1440" y="3973068"/>
            <a:ext cx="182880" cy="29260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3918204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train_{target}_{lm}_transformer_onehot{db}.log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9360" y="391820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Training log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1440" y="4370832"/>
            <a:ext cx="8961120" cy="420624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1440" y="4425696"/>
            <a:ext cx="182880" cy="2926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370832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train_curve_{target}_{lm}_transformer_onehot{db}.png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09360" y="437083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</a:rPr>
              <a:t>Train/val learning curves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36576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50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8321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</a:rPr>
              <a:t>Dual-branch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0698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</a:rPr>
              <a:t>Independent transformers for VH+VL (branch 1) and HCDR3 (branch 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17904"/>
            <a:ext cx="36576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517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4996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</a:rPr>
              <a:t>CDR3-guided cross-attention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</a:rPr>
              <a:t>HCDR3 residues query full chain context; position-level signals preserved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85416"/>
            <a:ext cx="36576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185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167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</a:rPr>
              <a:t>Masked mean pooling (FIX-A)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4048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</a:rPr>
              <a:t>Padding excluded from aggregation and IG gradient path — clean attributions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52928"/>
            <a:ext cx="36576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</a:rPr>
              <a:t>IG interpretation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07238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</a:rPr>
              <a:t>200-step Integrated Gradients → per-position and per-CDR3-residue importance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36576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5021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</a:rPr>
              <a:t>Regularised for small 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373989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</a:rPr>
              <a:t>dropout=0.4, weight_decay=1e-3, label_smooth — prevents CDR3 memorisation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87952"/>
            <a:ext cx="36576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169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</a:rPr>
              <a:t>CDR3-stratified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4074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</a:rPr>
              <a:t>StratifiedGroupKFold on Levenshtein clusters — honest generalisation estimate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7880</TotalTime>
  <Words>941</Words>
  <Application>Microsoft Macintosh PowerPoint</Application>
  <PresentationFormat>On-screen Show (16:9)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TransformerOneHot — Architecture &amp; Methods</dc:title>
  <dc:subject>PptxGenJS Presentation</dc:subject>
  <dc:creator>PptxGenJS</dc:creator>
  <cp:lastModifiedBy>Hoan Nguyen</cp:lastModifiedBy>
  <cp:revision>1</cp:revision>
  <dcterms:created xsi:type="dcterms:W3CDTF">2026-03-31T20:12:25Z</dcterms:created>
  <dcterms:modified xsi:type="dcterms:W3CDTF">2026-04-06T12:16:27Z</dcterms:modified>
</cp:coreProperties>
</file>